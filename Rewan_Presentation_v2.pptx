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لهم" id="{bc21f739-0d3b-37cb-f58c-8e7224320737}">
          <p14:sldIdLst>
            <p14:sldId id="256"/>
            <p14:sldId id="257"/>
          </p14:sldIdLst>
        </p14:section>
        <p14:section name="القصب" id="{015e1f57-91d2-4f55-80fc-f4c2d88639a5}">
          <p14:sldIdLst>
            <p14:sldId id="258"/>
            <p14:sldId id="259"/>
          </p14:sldIdLst>
        </p14:section>
        <p14:section name="شقراء" id="{7d2bc6ad-09f0-e8ab-e862-8a0667e0a1d9}">
          <p14:sldIdLst>
            <p14:sldId id="260"/>
            <p14:sldId id="261"/>
          </p14:sldIdLst>
        </p14:section>
        <p14:section name="المجمعة" id="{71ec4611-3ea5-34a9-057f-d2727ddfa424}">
          <p14:sldIdLst>
            <p14:sldId id="262"/>
            <p14:sldId id="263"/>
          </p14:sldIdLst>
        </p14:section>
        <p14:section name="المذنب" id="{eedd5734-7fc0-e78e-9ec2-64f82bdd192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مخيم أنيق في الطبيعة، بخيام وجلسات خارجية وإضاءة مسائية دافئة، مع إبراز الخصوصية والهدوء.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مشهد مسائي لمخيم نسائي خاص، مع جلسة خارجية مضاءة ومشروبات ساخنة وتفاصيل طبيعية أنيقة.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مشهد واسع لأحواض أو تلال الملح، مع تفاصيل قريبة للخامات وألوان بيضاء ورملية.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تصور لمساحة استجمام بتصميم طبيعي، مع منطقة عناية وأرفف منتجات وإضاءة دافئة.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صورة لسوق حليوة أو سوق المجلس في شقراء، مع تصور بصري لتحسين الإضاءة واللوحات والتنظيم.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سوق تراثي نابض بالحياة، يظهر فيه الزوار والحرفيون والمنتجات المحلية ومضيف يستقبل الزوار.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مزرعة نخيل واسعة، يظهر فيها هب بتصميم طبيعي مع جلسات ومقهى وأكشاك للمنتجات المحلية.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مسار وسط النخيل مع دراجات هوائية ودبابات مخصصة للجولات المنظمة ونقطة استراحة طبيعية.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صورة بانورامية للمنتزه وإطلالته، مع تصور بصري لتوزيع مناطق الجلوس والأنشطة والخدمات.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الصورة المقترحة: تصور متكامل للمنتزه يضم منطقة طعام خارجية، وألعاب أطفال، وجلسات عائلية، وأكشاك منتجات محلية، مع إبراز الإطلالة.
(تصور تطويري مقترح وليس مشروعًا منفذًا)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58400" y="5029200"/>
            <a:ext cx="3291840" cy="3291840"/>
          </a:xfrm>
          <a:prstGeom prst="ellipse">
            <a:avLst/>
          </a:prstGeom>
          <a:solidFill>
            <a:srgbClr val="D9A66B">
              <a:alpha val="12000"/>
            </a:srgbClr>
          </a:solidFill>
          <a:ln w="12700">
            <a:solidFill>
              <a:srgbClr val="D9A66B">
                <a:alpha val="0"/>
              </a:srgbClr>
            </a:solidFill>
            <a:prstDash val="solid"/>
          </a:ln>
        </p:spPr>
      </p:sp>
      <p:sp>
        <p:nvSpPr>
          <p:cNvPr id="3" name="Shape 1"/>
          <p:cNvSpPr/>
          <p:nvPr/>
        </p:nvSpPr>
        <p:spPr>
          <a:xfrm>
            <a:off x="-457200" y="0"/>
            <a:ext cx="5029200" cy="6858000"/>
          </a:xfrm>
          <a:prstGeom prst="roundRect">
            <a:avLst>
              <a:gd name="adj" fmla="val 8182"/>
            </a:avLst>
          </a:prstGeom>
          <a:solidFill>
            <a:srgbClr val="3E2D21"/>
          </a:solidFill>
          <a:ln w="15875">
            <a:solidFill>
              <a:srgbClr val="D9A66B"/>
            </a:solidFill>
            <a:prstDash val="dash"/>
          </a:ln>
        </p:spPr>
      </p:sp>
      <p:sp>
        <p:nvSpPr>
          <p:cNvPr id="4" name="Shape 2"/>
          <p:cNvSpPr/>
          <p:nvPr/>
        </p:nvSpPr>
        <p:spPr>
          <a:xfrm>
            <a:off x="-292608" y="164592"/>
            <a:ext cx="4700016" cy="6528816"/>
          </a:xfrm>
          <a:prstGeom prst="roundRect">
            <a:avLst>
              <a:gd name="adj" fmla="val 6420"/>
            </a:avLst>
          </a:prstGeom>
          <a:noFill/>
          <a:ln w="9525">
            <a:solidFill>
              <a:srgbClr val="D9A66B">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1508760" y="2057400"/>
            <a:ext cx="1554480" cy="1554480"/>
          </a:xfrm>
          <a:prstGeom prst="rect">
            <a:avLst/>
          </a:prstGeom>
        </p:spPr>
      </p:pic>
      <p:sp>
        <p:nvSpPr>
          <p:cNvPr id="6" name="Text 3"/>
          <p:cNvSpPr txBox="1"/>
          <p:nvPr/>
        </p:nvSpPr>
        <p:spPr>
          <a:xfrm>
            <a:off x="0" y="3840480"/>
            <a:ext cx="4572000" cy="365760"/>
          </a:xfrm>
          <a:prstGeom prst="rect">
            <a:avLst/>
          </a:prstGeom>
          <a:noFill/>
          <a:ln/>
        </p:spPr>
        <p:txBody>
          <a:bodyPr wrap="square" lIns="0" tIns="0" rIns="0" bIns="0" rtlCol="0" anchor="ctr"/>
          <a:lstStyle/>
          <a:p>
            <a:pPr rtl="1" algn="ctr" indent="0" marL="0">
              <a:buNone/>
            </a:pPr>
            <a:r>
              <a:rPr lang="ar-SA" altLang="en-US" sz="1800" b="1" dirty="0">
                <a:solidFill>
                  <a:srgbClr val="CDB79A"/>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0" y="4251960"/>
            <a:ext cx="4572000" cy="274320"/>
          </a:xfrm>
          <a:prstGeom prst="rect">
            <a:avLst/>
          </a:prstGeom>
          <a:noFill/>
          <a:ln/>
        </p:spPr>
        <p:txBody>
          <a:bodyPr wrap="square" lIns="0" tIns="0" rIns="0" bIns="0" rtlCol="0" anchor="ctr"/>
          <a:lstStyle/>
          <a:p>
            <a:pPr rtl="1" algn="ctr" indent="0" marL="0">
              <a:buNone/>
            </a:pPr>
            <a:r>
              <a:rPr lang="ar-SA" altLang="en-US" sz="1200" dirty="0">
                <a:solidFill>
                  <a:srgbClr val="CDB79A"/>
                </a:solidFill>
                <a:latin typeface="Dubai" pitchFamily="34" charset="0"/>
                <a:ea typeface="Dubai" pitchFamily="34" charset="-122"/>
                <a:cs typeface="Dubai" pitchFamily="34" charset="-120"/>
              </a:rPr>
              <a:t>صورة ١</a:t>
            </a:r>
            <a:endParaRPr lang="ar-SA" sz="1200" dirty="0"/>
          </a:p>
        </p:txBody>
      </p:sp>
      <p:sp>
        <p:nvSpPr>
          <p:cNvPr id="8" name="Shape 5"/>
          <p:cNvSpPr/>
          <p:nvPr/>
        </p:nvSpPr>
        <p:spPr>
          <a:xfrm>
            <a:off x="8586216" y="548640"/>
            <a:ext cx="3054096" cy="365760"/>
          </a:xfrm>
          <a:prstGeom prst="roundRect">
            <a:avLst>
              <a:gd name="adj" fmla="val 50000"/>
            </a:avLst>
          </a:prstGeom>
          <a:solidFill>
            <a:srgbClr val="D9A66B">
              <a:alpha val="25000"/>
            </a:srgbClr>
          </a:solidFill>
          <a:ln w="9525">
            <a:solidFill>
              <a:srgbClr val="D9A66B"/>
            </a:solidFill>
            <a:prstDash val="solid"/>
          </a:ln>
        </p:spPr>
      </p:sp>
      <p:pic>
        <p:nvPicPr>
          <p:cNvPr id="9" name="Image 1" descr="preencoded.png">    </p:cNvPr>
          <p:cNvPicPr>
            <a:picLocks noChangeAspect="1"/>
          </p:cNvPicPr>
          <p:nvPr/>
        </p:nvPicPr>
        <p:blipFill>
          <a:blip r:embed="rId3"/>
          <a:stretch>
            <a:fillRect/>
          </a:stretch>
        </p:blipFill>
        <p:spPr>
          <a:xfrm>
            <a:off x="11292840" y="630936"/>
            <a:ext cx="201168" cy="201168"/>
          </a:xfrm>
          <a:prstGeom prst="rect">
            <a:avLst/>
          </a:prstGeom>
        </p:spPr>
      </p:pic>
      <p:sp>
        <p:nvSpPr>
          <p:cNvPr id="10" name="Text 6"/>
          <p:cNvSpPr txBox="1"/>
          <p:nvPr/>
        </p:nvSpPr>
        <p:spPr>
          <a:xfrm>
            <a:off x="8695944" y="548640"/>
            <a:ext cx="2505456" cy="365760"/>
          </a:xfrm>
          <a:prstGeom prst="rect">
            <a:avLst/>
          </a:prstGeom>
          <a:noFill/>
          <a:ln/>
        </p:spPr>
        <p:txBody>
          <a:bodyPr wrap="square" lIns="0" tIns="0" rIns="0" bIns="0" rtlCol="0" anchor="ctr"/>
          <a:lstStyle/>
          <a:p>
            <a:pPr rtl="1" algn="r" indent="0" marL="0">
              <a:buNone/>
            </a:pPr>
            <a:r>
              <a:rPr lang="ar-SA" altLang="en-US" sz="1300" b="1" dirty="0">
                <a:solidFill>
                  <a:srgbClr val="D9A66B"/>
                </a:solidFill>
                <a:latin typeface="Dubai" pitchFamily="34" charset="0"/>
                <a:ea typeface="Dubai" pitchFamily="34" charset="-122"/>
                <a:cs typeface="Dubai" pitchFamily="34" charset="-120"/>
              </a:rPr>
              <a:t>ملهم — مساحة لكِ</a:t>
            </a:r>
            <a:endParaRPr lang="ar-SA" sz="1300" dirty="0"/>
          </a:p>
        </p:txBody>
      </p:sp>
      <p:sp>
        <p:nvSpPr>
          <p:cNvPr id="11" name="Text 7"/>
          <p:cNvSpPr txBox="1"/>
          <p:nvPr/>
        </p:nvSpPr>
        <p:spPr>
          <a:xfrm>
            <a:off x="5120640" y="1005840"/>
            <a:ext cx="6519672" cy="1143000"/>
          </a:xfrm>
          <a:prstGeom prst="rect">
            <a:avLst/>
          </a:prstGeom>
          <a:noFill/>
          <a:ln/>
        </p:spPr>
        <p:txBody>
          <a:bodyPr wrap="square" lIns="0" tIns="0" rIns="0" bIns="0" rtlCol="0" anchor="t"/>
          <a:lstStyle/>
          <a:p>
            <a:pPr rtl="1" algn="r" indent="0" marL="0">
              <a:buNone/>
            </a:pPr>
            <a:r>
              <a:rPr lang="ar-SA" altLang="en-US" sz="3600" b="1" dirty="0">
                <a:solidFill>
                  <a:srgbClr val="F3EADB"/>
                </a:solidFill>
                <a:latin typeface="Dubai" pitchFamily="34" charset="0"/>
                <a:ea typeface="Dubai" pitchFamily="34" charset="-122"/>
                <a:cs typeface="Dubai" pitchFamily="34" charset="-120"/>
              </a:rPr>
              <a:t>مكانك، وقتك، وتجربتك</a:t>
            </a:r>
            <a:endParaRPr lang="ar-SA" sz="3600" dirty="0"/>
          </a:p>
        </p:txBody>
      </p:sp>
      <p:sp>
        <p:nvSpPr>
          <p:cNvPr id="12" name="Text 8"/>
          <p:cNvSpPr txBox="1"/>
          <p:nvPr/>
        </p:nvSpPr>
        <p:spPr>
          <a:xfrm>
            <a:off x="5120640" y="2194560"/>
            <a:ext cx="6519672"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في ملهم، نصنع مساحة تخييم مخصصة للنساء، تمنحهن فرصة للابتعاد عن صخب المدينة والاستمتاع بالطبيعة في أجواء من الخصوصية والراحة والضيافة.</a:t>
            </a:r>
            <a:endParaRPr lang="ar-SA" sz="1500" dirty="0"/>
          </a:p>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وجهة تجمع بين الهدوء، والأنشطة الخارجية، واللقاءات الاجتماعية، وتجارب الاسترخاء في الهواء الطلق.</a:t>
            </a:r>
            <a:endParaRPr lang="ar-SA" sz="1500" dirty="0"/>
          </a:p>
        </p:txBody>
      </p:sp>
      <p:sp>
        <p:nvSpPr>
          <p:cNvPr id="13" name="Text 9"/>
          <p:cNvSpPr txBox="1"/>
          <p:nvPr/>
        </p:nvSpPr>
        <p:spPr>
          <a:xfrm>
            <a:off x="5120640" y="3493008"/>
            <a:ext cx="6519672" cy="274320"/>
          </a:xfrm>
          <a:prstGeom prst="rect">
            <a:avLst/>
          </a:prstGeom>
          <a:noFill/>
          <a:ln/>
        </p:spPr>
        <p:txBody>
          <a:bodyPr wrap="square" lIns="0" tIns="0" rIns="0" bIns="0" rtlCol="0" anchor="ctr"/>
          <a:lstStyle/>
          <a:p>
            <a:pPr rtl="1" algn="r" indent="0" marL="0">
              <a:buNone/>
            </a:pPr>
            <a:r>
              <a:rPr lang="ar-SA" altLang="en-US" sz="1400" b="1" dirty="0">
                <a:solidFill>
                  <a:srgbClr val="D9A66B"/>
                </a:solidFill>
                <a:latin typeface="Dubai" pitchFamily="34" charset="0"/>
                <a:ea typeface="Dubai" pitchFamily="34" charset="-122"/>
                <a:cs typeface="Dubai" pitchFamily="34" charset="-120"/>
              </a:rPr>
              <a:t>مكونات التجربة</a:t>
            </a:r>
            <a:endParaRPr lang="ar-SA" sz="1400" dirty="0"/>
          </a:p>
        </p:txBody>
      </p:sp>
      <p:sp>
        <p:nvSpPr>
          <p:cNvPr id="14" name="Shape 10"/>
          <p:cNvSpPr/>
          <p:nvPr/>
        </p:nvSpPr>
        <p:spPr>
          <a:xfrm>
            <a:off x="8471916" y="3858768"/>
            <a:ext cx="3168396" cy="548640"/>
          </a:xfrm>
          <a:prstGeom prst="roundRect">
            <a:avLst>
              <a:gd name="adj" fmla="val 23333"/>
            </a:avLst>
          </a:prstGeom>
          <a:solidFill>
            <a:srgbClr val="3A2A1F"/>
          </a:solidFill>
          <a:ln w="9525">
            <a:solidFill>
              <a:srgbClr val="4D3A2C"/>
            </a:solidFill>
            <a:prstDash val="solid"/>
          </a:ln>
        </p:spPr>
      </p:sp>
      <p:sp>
        <p:nvSpPr>
          <p:cNvPr id="15" name="Shape 11"/>
          <p:cNvSpPr/>
          <p:nvPr/>
        </p:nvSpPr>
        <p:spPr>
          <a:xfrm>
            <a:off x="11146536" y="3941064"/>
            <a:ext cx="384048" cy="384048"/>
          </a:xfrm>
          <a:prstGeom prst="ellipse">
            <a:avLst/>
          </a:prstGeom>
          <a:solidFill>
            <a:srgbClr val="D9A66B"/>
          </a:solidFill>
          <a:ln/>
        </p:spPr>
      </p:sp>
      <p:pic>
        <p:nvPicPr>
          <p:cNvPr id="16" name="Image 2" descr="preencoded.png">    </p:cNvPr>
          <p:cNvPicPr>
            <a:picLocks noChangeAspect="1"/>
          </p:cNvPicPr>
          <p:nvPr/>
        </p:nvPicPr>
        <p:blipFill>
          <a:blip r:embed="rId4"/>
          <a:stretch>
            <a:fillRect/>
          </a:stretch>
        </p:blipFill>
        <p:spPr>
          <a:xfrm>
            <a:off x="11242548" y="4037076"/>
            <a:ext cx="192024" cy="192024"/>
          </a:xfrm>
          <a:prstGeom prst="rect">
            <a:avLst/>
          </a:prstGeom>
        </p:spPr>
      </p:pic>
      <p:sp>
        <p:nvSpPr>
          <p:cNvPr id="17" name="Text 12"/>
          <p:cNvSpPr txBox="1"/>
          <p:nvPr/>
        </p:nvSpPr>
        <p:spPr>
          <a:xfrm>
            <a:off x="8581644"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مخيم نسائي بخصوصية واضحة</a:t>
            </a:r>
            <a:endParaRPr lang="ar-SA" sz="1400" dirty="0"/>
          </a:p>
        </p:txBody>
      </p:sp>
      <p:sp>
        <p:nvSpPr>
          <p:cNvPr id="18" name="Shape 13"/>
          <p:cNvSpPr/>
          <p:nvPr/>
        </p:nvSpPr>
        <p:spPr>
          <a:xfrm>
            <a:off x="5120640" y="3858768"/>
            <a:ext cx="3168396" cy="548640"/>
          </a:xfrm>
          <a:prstGeom prst="roundRect">
            <a:avLst>
              <a:gd name="adj" fmla="val 23333"/>
            </a:avLst>
          </a:prstGeom>
          <a:solidFill>
            <a:srgbClr val="3A2A1F"/>
          </a:solidFill>
          <a:ln w="9525">
            <a:solidFill>
              <a:srgbClr val="4D3A2C"/>
            </a:solidFill>
            <a:prstDash val="solid"/>
          </a:ln>
        </p:spPr>
      </p:sp>
      <p:sp>
        <p:nvSpPr>
          <p:cNvPr id="19" name="Shape 14"/>
          <p:cNvSpPr/>
          <p:nvPr/>
        </p:nvSpPr>
        <p:spPr>
          <a:xfrm>
            <a:off x="7795260" y="3941064"/>
            <a:ext cx="384048" cy="384048"/>
          </a:xfrm>
          <a:prstGeom prst="ellipse">
            <a:avLst/>
          </a:prstGeom>
          <a:solidFill>
            <a:srgbClr val="D9A66B"/>
          </a:solidFill>
          <a:ln/>
        </p:spPr>
      </p:sp>
      <p:pic>
        <p:nvPicPr>
          <p:cNvPr id="20" name="Image 3" descr="preencoded.png">    </p:cNvPr>
          <p:cNvPicPr>
            <a:picLocks noChangeAspect="1"/>
          </p:cNvPicPr>
          <p:nvPr/>
        </p:nvPicPr>
        <p:blipFill>
          <a:blip r:embed="rId5"/>
          <a:stretch>
            <a:fillRect/>
          </a:stretch>
        </p:blipFill>
        <p:spPr>
          <a:xfrm>
            <a:off x="7891272" y="4037076"/>
            <a:ext cx="192024" cy="192024"/>
          </a:xfrm>
          <a:prstGeom prst="rect">
            <a:avLst/>
          </a:prstGeom>
        </p:spPr>
      </p:pic>
      <p:sp>
        <p:nvSpPr>
          <p:cNvPr id="21" name="Text 15"/>
          <p:cNvSpPr txBox="1"/>
          <p:nvPr/>
        </p:nvSpPr>
        <p:spPr>
          <a:xfrm>
            <a:off x="5230368"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جلسات خارجية ومناطق للاسترخاء</a:t>
            </a:r>
            <a:endParaRPr lang="ar-SA" sz="1400" dirty="0"/>
          </a:p>
        </p:txBody>
      </p:sp>
      <p:sp>
        <p:nvSpPr>
          <p:cNvPr id="22" name="Shape 16"/>
          <p:cNvSpPr/>
          <p:nvPr/>
        </p:nvSpPr>
        <p:spPr>
          <a:xfrm>
            <a:off x="8471916" y="4480560"/>
            <a:ext cx="3168396" cy="548640"/>
          </a:xfrm>
          <a:prstGeom prst="roundRect">
            <a:avLst>
              <a:gd name="adj" fmla="val 23333"/>
            </a:avLst>
          </a:prstGeom>
          <a:solidFill>
            <a:srgbClr val="3A2A1F"/>
          </a:solidFill>
          <a:ln w="9525">
            <a:solidFill>
              <a:srgbClr val="4D3A2C"/>
            </a:solidFill>
            <a:prstDash val="solid"/>
          </a:ln>
        </p:spPr>
      </p:sp>
      <p:sp>
        <p:nvSpPr>
          <p:cNvPr id="23" name="Shape 17"/>
          <p:cNvSpPr/>
          <p:nvPr/>
        </p:nvSpPr>
        <p:spPr>
          <a:xfrm>
            <a:off x="11146536" y="4562856"/>
            <a:ext cx="384048" cy="384048"/>
          </a:xfrm>
          <a:prstGeom prst="ellipse">
            <a:avLst/>
          </a:prstGeom>
          <a:solidFill>
            <a:srgbClr val="D9A66B"/>
          </a:solidFill>
          <a:ln/>
        </p:spPr>
      </p:sp>
      <p:pic>
        <p:nvPicPr>
          <p:cNvPr id="24" name="Image 4" descr="preencoded.png">    </p:cNvPr>
          <p:cNvPicPr>
            <a:picLocks noChangeAspect="1"/>
          </p:cNvPicPr>
          <p:nvPr/>
        </p:nvPicPr>
        <p:blipFill>
          <a:blip r:embed="rId6"/>
          <a:stretch>
            <a:fillRect/>
          </a:stretch>
        </p:blipFill>
        <p:spPr>
          <a:xfrm>
            <a:off x="11242548" y="4658868"/>
            <a:ext cx="192024" cy="192024"/>
          </a:xfrm>
          <a:prstGeom prst="rect">
            <a:avLst/>
          </a:prstGeom>
        </p:spPr>
      </p:pic>
      <p:sp>
        <p:nvSpPr>
          <p:cNvPr id="25" name="Text 18"/>
          <p:cNvSpPr txBox="1"/>
          <p:nvPr/>
        </p:nvSpPr>
        <p:spPr>
          <a:xfrm>
            <a:off x="8581644"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مساحات مخصصة للخيام</a:t>
            </a:r>
            <a:endParaRPr lang="ar-SA" sz="1400" dirty="0"/>
          </a:p>
        </p:txBody>
      </p:sp>
      <p:sp>
        <p:nvSpPr>
          <p:cNvPr id="26" name="Shape 19"/>
          <p:cNvSpPr/>
          <p:nvPr/>
        </p:nvSpPr>
        <p:spPr>
          <a:xfrm>
            <a:off x="5120640" y="4480560"/>
            <a:ext cx="3168396" cy="548640"/>
          </a:xfrm>
          <a:prstGeom prst="roundRect">
            <a:avLst>
              <a:gd name="adj" fmla="val 23333"/>
            </a:avLst>
          </a:prstGeom>
          <a:solidFill>
            <a:srgbClr val="3A2A1F"/>
          </a:solidFill>
          <a:ln w="9525">
            <a:solidFill>
              <a:srgbClr val="4D3A2C"/>
            </a:solidFill>
            <a:prstDash val="solid"/>
          </a:ln>
        </p:spPr>
      </p:sp>
      <p:sp>
        <p:nvSpPr>
          <p:cNvPr id="27" name="Shape 20"/>
          <p:cNvSpPr/>
          <p:nvPr/>
        </p:nvSpPr>
        <p:spPr>
          <a:xfrm>
            <a:off x="7795260" y="4562856"/>
            <a:ext cx="384048" cy="384048"/>
          </a:xfrm>
          <a:prstGeom prst="ellipse">
            <a:avLst/>
          </a:prstGeom>
          <a:solidFill>
            <a:srgbClr val="D9A66B"/>
          </a:solidFill>
          <a:ln/>
        </p:spPr>
      </p:sp>
      <p:pic>
        <p:nvPicPr>
          <p:cNvPr id="28" name="Image 5" descr="preencoded.png">    </p:cNvPr>
          <p:cNvPicPr>
            <a:picLocks noChangeAspect="1"/>
          </p:cNvPicPr>
          <p:nvPr/>
        </p:nvPicPr>
        <p:blipFill>
          <a:blip r:embed="rId7"/>
          <a:stretch>
            <a:fillRect/>
          </a:stretch>
        </p:blipFill>
        <p:spPr>
          <a:xfrm>
            <a:off x="7891272" y="4658868"/>
            <a:ext cx="192024" cy="192024"/>
          </a:xfrm>
          <a:prstGeom prst="rect">
            <a:avLst/>
          </a:prstGeom>
        </p:spPr>
      </p:pic>
      <p:sp>
        <p:nvSpPr>
          <p:cNvPr id="29" name="Text 21"/>
          <p:cNvSpPr txBox="1"/>
          <p:nvPr/>
        </p:nvSpPr>
        <p:spPr>
          <a:xfrm>
            <a:off x="5230368"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منطقة استقبال وضيافة</a:t>
            </a:r>
            <a:endParaRPr lang="ar-SA" sz="1400" dirty="0"/>
          </a:p>
        </p:txBody>
      </p:sp>
      <p:sp>
        <p:nvSpPr>
          <p:cNvPr id="30" name="Shape 22"/>
          <p:cNvSpPr/>
          <p:nvPr/>
        </p:nvSpPr>
        <p:spPr>
          <a:xfrm>
            <a:off x="8471916" y="5102352"/>
            <a:ext cx="3168396" cy="548640"/>
          </a:xfrm>
          <a:prstGeom prst="roundRect">
            <a:avLst>
              <a:gd name="adj" fmla="val 23333"/>
            </a:avLst>
          </a:prstGeom>
          <a:solidFill>
            <a:srgbClr val="3A2A1F"/>
          </a:solidFill>
          <a:ln w="9525">
            <a:solidFill>
              <a:srgbClr val="4D3A2C"/>
            </a:solidFill>
            <a:prstDash val="solid"/>
          </a:ln>
        </p:spPr>
      </p:sp>
      <p:sp>
        <p:nvSpPr>
          <p:cNvPr id="31" name="Shape 23"/>
          <p:cNvSpPr/>
          <p:nvPr/>
        </p:nvSpPr>
        <p:spPr>
          <a:xfrm>
            <a:off x="11146536" y="5184648"/>
            <a:ext cx="384048" cy="384048"/>
          </a:xfrm>
          <a:prstGeom prst="ellipse">
            <a:avLst/>
          </a:prstGeom>
          <a:solidFill>
            <a:srgbClr val="D9A66B"/>
          </a:solidFill>
          <a:ln/>
        </p:spPr>
      </p:sp>
      <p:pic>
        <p:nvPicPr>
          <p:cNvPr id="32" name="Image 6" descr="preencoded.png">    </p:cNvPr>
          <p:cNvPicPr>
            <a:picLocks noChangeAspect="1"/>
          </p:cNvPicPr>
          <p:nvPr/>
        </p:nvPicPr>
        <p:blipFill>
          <a:blip r:embed="rId8"/>
          <a:stretch>
            <a:fillRect/>
          </a:stretch>
        </p:blipFill>
        <p:spPr>
          <a:xfrm>
            <a:off x="11242548" y="5280660"/>
            <a:ext cx="192024" cy="192024"/>
          </a:xfrm>
          <a:prstGeom prst="rect">
            <a:avLst/>
          </a:prstGeom>
        </p:spPr>
      </p:pic>
      <p:sp>
        <p:nvSpPr>
          <p:cNvPr id="33" name="Text 24"/>
          <p:cNvSpPr txBox="1"/>
          <p:nvPr/>
        </p:nvSpPr>
        <p:spPr>
          <a:xfrm>
            <a:off x="8581644"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زوايا تصوير بطابع طبيعي</a:t>
            </a:r>
            <a:endParaRPr lang="ar-SA" sz="1400" dirty="0"/>
          </a:p>
        </p:txBody>
      </p:sp>
      <p:sp>
        <p:nvSpPr>
          <p:cNvPr id="34" name="Shape 25"/>
          <p:cNvSpPr/>
          <p:nvPr/>
        </p:nvSpPr>
        <p:spPr>
          <a:xfrm>
            <a:off x="5120640" y="5102352"/>
            <a:ext cx="3168396" cy="548640"/>
          </a:xfrm>
          <a:prstGeom prst="roundRect">
            <a:avLst>
              <a:gd name="adj" fmla="val 23333"/>
            </a:avLst>
          </a:prstGeom>
          <a:solidFill>
            <a:srgbClr val="3A2A1F"/>
          </a:solidFill>
          <a:ln w="9525">
            <a:solidFill>
              <a:srgbClr val="4D3A2C"/>
            </a:solidFill>
            <a:prstDash val="solid"/>
          </a:ln>
        </p:spPr>
      </p:sp>
      <p:sp>
        <p:nvSpPr>
          <p:cNvPr id="35" name="Shape 26"/>
          <p:cNvSpPr/>
          <p:nvPr/>
        </p:nvSpPr>
        <p:spPr>
          <a:xfrm>
            <a:off x="7795260" y="5184648"/>
            <a:ext cx="384048" cy="384048"/>
          </a:xfrm>
          <a:prstGeom prst="ellipse">
            <a:avLst/>
          </a:prstGeom>
          <a:solidFill>
            <a:srgbClr val="D9A66B"/>
          </a:solidFill>
          <a:ln/>
        </p:spPr>
      </p:sp>
      <p:pic>
        <p:nvPicPr>
          <p:cNvPr id="36" name="Image 7" descr="preencoded.png">    </p:cNvPr>
          <p:cNvPicPr>
            <a:picLocks noChangeAspect="1"/>
          </p:cNvPicPr>
          <p:nvPr/>
        </p:nvPicPr>
        <p:blipFill>
          <a:blip r:embed="rId9"/>
          <a:stretch>
            <a:fillRect/>
          </a:stretch>
        </p:blipFill>
        <p:spPr>
          <a:xfrm>
            <a:off x="7891272" y="5280660"/>
            <a:ext cx="192024" cy="192024"/>
          </a:xfrm>
          <a:prstGeom prst="rect">
            <a:avLst/>
          </a:prstGeom>
        </p:spPr>
      </p:pic>
      <p:sp>
        <p:nvSpPr>
          <p:cNvPr id="37" name="Text 27"/>
          <p:cNvSpPr txBox="1"/>
          <p:nvPr/>
        </p:nvSpPr>
        <p:spPr>
          <a:xfrm>
            <a:off x="5230368"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تصميم متناسق مع البيئة المحيطة</a:t>
            </a:r>
            <a:endParaRPr lang="ar-SA" sz="1400" dirty="0"/>
          </a:p>
        </p:txBody>
      </p:sp>
      <p:sp>
        <p:nvSpPr>
          <p:cNvPr id="38" name="Text 28"/>
          <p:cNvSpPr txBox="1"/>
          <p:nvPr/>
        </p:nvSpPr>
        <p:spPr>
          <a:xfrm>
            <a:off x="5120640" y="6446520"/>
            <a:ext cx="6519672" cy="228600"/>
          </a:xfrm>
          <a:prstGeom prst="rect">
            <a:avLst/>
          </a:prstGeom>
          <a:noFill/>
          <a:ln/>
        </p:spPr>
        <p:txBody>
          <a:bodyPr wrap="square" lIns="0" tIns="0" rIns="0" bIns="0" rtlCol="0" anchor="ctr"/>
          <a:lstStyle/>
          <a:p>
            <a:pPr rtl="1" algn="r" indent="0" marL="0">
              <a:buNone/>
            </a:pPr>
            <a:r>
              <a:rPr lang="ar-SA" altLang="en-US" sz="1000" dirty="0">
                <a:solidFill>
                  <a:srgbClr val="CDB79A"/>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280160" y="5029200"/>
            <a:ext cx="3291840" cy="3291840"/>
          </a:xfrm>
          <a:prstGeom prst="ellipse">
            <a:avLst/>
          </a:prstGeom>
          <a:solidFill>
            <a:srgbClr val="8C5A35">
              <a:alpha val="15000"/>
            </a:srgbClr>
          </a:solidFill>
          <a:ln w="12700">
            <a:solidFill>
              <a:srgbClr val="8C5A35">
                <a:alpha val="0"/>
              </a:srgbClr>
            </a:solidFill>
            <a:prstDash val="solid"/>
          </a:ln>
        </p:spPr>
      </p:sp>
      <p:sp>
        <p:nvSpPr>
          <p:cNvPr id="3" name="Shape 1"/>
          <p:cNvSpPr/>
          <p:nvPr/>
        </p:nvSpPr>
        <p:spPr>
          <a:xfrm>
            <a:off x="7589520" y="0"/>
            <a:ext cx="5029200" cy="6858000"/>
          </a:xfrm>
          <a:prstGeom prst="roundRect">
            <a:avLst>
              <a:gd name="adj" fmla="val 8182"/>
            </a:avLst>
          </a:prstGeom>
          <a:solidFill>
            <a:srgbClr val="E6D6BC"/>
          </a:solidFill>
          <a:ln w="15875">
            <a:solidFill>
              <a:srgbClr val="A68460"/>
            </a:solidFill>
            <a:prstDash val="dash"/>
          </a:ln>
        </p:spPr>
      </p:sp>
      <p:sp>
        <p:nvSpPr>
          <p:cNvPr id="4" name="Shape 2"/>
          <p:cNvSpPr/>
          <p:nvPr/>
        </p:nvSpPr>
        <p:spPr>
          <a:xfrm>
            <a:off x="7754112" y="164592"/>
            <a:ext cx="4700016" cy="6528816"/>
          </a:xfrm>
          <a:prstGeom prst="roundRect">
            <a:avLst>
              <a:gd name="adj" fmla="val 6420"/>
            </a:avLst>
          </a:prstGeom>
          <a:noFill/>
          <a:ln w="9525">
            <a:solidFill>
              <a:srgbClr val="8C5A35">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9111996" y="2057400"/>
            <a:ext cx="1554480" cy="1554480"/>
          </a:xfrm>
          <a:prstGeom prst="rect">
            <a:avLst/>
          </a:prstGeom>
        </p:spPr>
      </p:pic>
      <p:sp>
        <p:nvSpPr>
          <p:cNvPr id="6" name="Text 3"/>
          <p:cNvSpPr txBox="1"/>
          <p:nvPr/>
        </p:nvSpPr>
        <p:spPr>
          <a:xfrm>
            <a:off x="7589520" y="3840480"/>
            <a:ext cx="4599432" cy="365760"/>
          </a:xfrm>
          <a:prstGeom prst="rect">
            <a:avLst/>
          </a:prstGeom>
          <a:noFill/>
          <a:ln/>
        </p:spPr>
        <p:txBody>
          <a:bodyPr wrap="square" lIns="0" tIns="0" rIns="0" bIns="0" rtlCol="0" anchor="ctr"/>
          <a:lstStyle/>
          <a:p>
            <a:pPr rtl="1" algn="ctr" indent="0" marL="0">
              <a:buNone/>
            </a:pPr>
            <a:r>
              <a:rPr lang="ar-SA" altLang="en-US" sz="1800" b="1" dirty="0">
                <a:solidFill>
                  <a:srgbClr val="7A5C44"/>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7589520" y="4251960"/>
            <a:ext cx="4599432" cy="274320"/>
          </a:xfrm>
          <a:prstGeom prst="rect">
            <a:avLst/>
          </a:prstGeom>
          <a:noFill/>
          <a:ln/>
        </p:spPr>
        <p:txBody>
          <a:bodyPr wrap="square" lIns="0" tIns="0" rIns="0" bIns="0" rtlCol="0" anchor="ctr"/>
          <a:lstStyle/>
          <a:p>
            <a:pPr rtl="1" algn="ctr" indent="0" marL="0">
              <a:buNone/>
            </a:pPr>
            <a:r>
              <a:rPr lang="ar-SA" altLang="en-US" sz="1200" dirty="0">
                <a:solidFill>
                  <a:srgbClr val="7A5C44"/>
                </a:solidFill>
                <a:latin typeface="Dubai" pitchFamily="34" charset="0"/>
                <a:ea typeface="Dubai" pitchFamily="34" charset="-122"/>
                <a:cs typeface="Dubai" pitchFamily="34" charset="-120"/>
              </a:rPr>
              <a:t>صورة ٢</a:t>
            </a:r>
            <a:endParaRPr lang="ar-SA" sz="1200" dirty="0"/>
          </a:p>
        </p:txBody>
      </p:sp>
      <p:sp>
        <p:nvSpPr>
          <p:cNvPr id="8" name="Shape 5"/>
          <p:cNvSpPr/>
          <p:nvPr/>
        </p:nvSpPr>
        <p:spPr>
          <a:xfrm>
            <a:off x="3474720" y="548640"/>
            <a:ext cx="3566160" cy="365760"/>
          </a:xfrm>
          <a:prstGeom prst="roundRect">
            <a:avLst>
              <a:gd name="adj" fmla="val 50000"/>
            </a:avLst>
          </a:prstGeom>
          <a:solidFill>
            <a:srgbClr val="8C5A35">
              <a:alpha val="18000"/>
            </a:srgbClr>
          </a:solidFill>
          <a:ln w="9525">
            <a:solidFill>
              <a:srgbClr val="8C5A35"/>
            </a:solidFill>
            <a:prstDash val="solid"/>
          </a:ln>
        </p:spPr>
      </p:sp>
      <p:pic>
        <p:nvPicPr>
          <p:cNvPr id="9" name="Image 1" descr="preencoded.png">    </p:cNvPr>
          <p:cNvPicPr>
            <a:picLocks noChangeAspect="1"/>
          </p:cNvPicPr>
          <p:nvPr/>
        </p:nvPicPr>
        <p:blipFill>
          <a:blip r:embed="rId3"/>
          <a:stretch>
            <a:fillRect/>
          </a:stretch>
        </p:blipFill>
        <p:spPr>
          <a:xfrm>
            <a:off x="6693408" y="630936"/>
            <a:ext cx="201168" cy="201168"/>
          </a:xfrm>
          <a:prstGeom prst="rect">
            <a:avLst/>
          </a:prstGeom>
        </p:spPr>
      </p:pic>
      <p:sp>
        <p:nvSpPr>
          <p:cNvPr id="10" name="Text 6"/>
          <p:cNvSpPr txBox="1"/>
          <p:nvPr/>
        </p:nvSpPr>
        <p:spPr>
          <a:xfrm>
            <a:off x="3584448" y="548640"/>
            <a:ext cx="3017520" cy="365760"/>
          </a:xfrm>
          <a:prstGeom prst="rect">
            <a:avLst/>
          </a:prstGeom>
          <a:noFill/>
          <a:ln/>
        </p:spPr>
        <p:txBody>
          <a:bodyPr wrap="square" lIns="0" tIns="0" rIns="0" bIns="0" rtlCol="0" anchor="ctr"/>
          <a:lstStyle/>
          <a:p>
            <a:pPr rtl="1" algn="r" indent="0" marL="0">
              <a:buNone/>
            </a:pPr>
            <a:r>
              <a:rPr lang="ar-SA" altLang="en-US" sz="1300" b="1" dirty="0">
                <a:solidFill>
                  <a:srgbClr val="8C5A35"/>
                </a:solidFill>
                <a:latin typeface="Dubai" pitchFamily="34" charset="0"/>
                <a:ea typeface="Dubai" pitchFamily="34" charset="-122"/>
                <a:cs typeface="Dubai" pitchFamily="34" charset="-120"/>
              </a:rPr>
              <a:t>ملهم — تجارب على مهل</a:t>
            </a:r>
            <a:endParaRPr lang="ar-SA" sz="1300" dirty="0"/>
          </a:p>
        </p:txBody>
      </p:sp>
      <p:sp>
        <p:nvSpPr>
          <p:cNvPr id="11" name="Text 7"/>
          <p:cNvSpPr txBox="1"/>
          <p:nvPr/>
        </p:nvSpPr>
        <p:spPr>
          <a:xfrm>
            <a:off x="548640" y="1005840"/>
            <a:ext cx="6492240" cy="1143000"/>
          </a:xfrm>
          <a:prstGeom prst="rect">
            <a:avLst/>
          </a:prstGeom>
          <a:noFill/>
          <a:ln/>
        </p:spPr>
        <p:txBody>
          <a:bodyPr wrap="square" lIns="0" tIns="0" rIns="0" bIns="0" rtlCol="0" anchor="t"/>
          <a:lstStyle/>
          <a:p>
            <a:pPr rtl="1" algn="r" indent="0" marL="0">
              <a:buNone/>
            </a:pPr>
            <a:r>
              <a:rPr lang="ar-SA" altLang="en-US" sz="3600" b="1" dirty="0">
                <a:solidFill>
                  <a:srgbClr val="3B2A1E"/>
                </a:solidFill>
                <a:latin typeface="Dubai" pitchFamily="34" charset="0"/>
                <a:ea typeface="Dubai" pitchFamily="34" charset="-122"/>
                <a:cs typeface="Dubai" pitchFamily="34" charset="-120"/>
              </a:rPr>
              <a:t>موعدك مع الطبيعة</a:t>
            </a:r>
            <a:endParaRPr lang="ar-SA" sz="3600" dirty="0"/>
          </a:p>
        </p:txBody>
      </p:sp>
      <p:sp>
        <p:nvSpPr>
          <p:cNvPr id="12" name="Text 8"/>
          <p:cNvSpPr txBox="1"/>
          <p:nvPr/>
        </p:nvSpPr>
        <p:spPr>
          <a:xfrm>
            <a:off x="548640" y="2194560"/>
            <a:ext cx="6492240"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التجربة في ملهم أكبر من مجرد التخييم؛ هي فرصة لصناعة وقت مختلف، ومشاركة اللحظات، واكتشاف أنشطة جديدة في بيئة مريحة صُممت لتناسب اهتمامات النساء.</a:t>
            </a:r>
            <a:endParaRPr lang="ar-SA" sz="1500" dirty="0"/>
          </a:p>
        </p:txBody>
      </p:sp>
      <p:sp>
        <p:nvSpPr>
          <p:cNvPr id="13" name="Text 9"/>
          <p:cNvSpPr txBox="1"/>
          <p:nvPr/>
        </p:nvSpPr>
        <p:spPr>
          <a:xfrm>
            <a:off x="548640" y="3493008"/>
            <a:ext cx="6492240" cy="274320"/>
          </a:xfrm>
          <a:prstGeom prst="rect">
            <a:avLst/>
          </a:prstGeom>
          <a:noFill/>
          <a:ln/>
        </p:spPr>
        <p:txBody>
          <a:bodyPr wrap="square" lIns="0" tIns="0" rIns="0" bIns="0" rtlCol="0" anchor="ctr"/>
          <a:lstStyle/>
          <a:p>
            <a:pPr rtl="1" algn="r" indent="0" marL="0">
              <a:buNone/>
            </a:pPr>
            <a:r>
              <a:rPr lang="ar-SA" altLang="en-US" sz="1400" b="1" dirty="0">
                <a:solidFill>
                  <a:srgbClr val="8C5A35"/>
                </a:solidFill>
                <a:latin typeface="Dubai" pitchFamily="34" charset="0"/>
                <a:ea typeface="Dubai" pitchFamily="34" charset="-122"/>
                <a:cs typeface="Dubai" pitchFamily="34" charset="-120"/>
              </a:rPr>
              <a:t>التجارب المقترحة</a:t>
            </a:r>
            <a:endParaRPr lang="ar-SA" sz="1400" dirty="0"/>
          </a:p>
        </p:txBody>
      </p:sp>
      <p:sp>
        <p:nvSpPr>
          <p:cNvPr id="14" name="Shape 10"/>
          <p:cNvSpPr/>
          <p:nvPr/>
        </p:nvSpPr>
        <p:spPr>
          <a:xfrm>
            <a:off x="3886200" y="3858768"/>
            <a:ext cx="3154680" cy="548640"/>
          </a:xfrm>
          <a:prstGeom prst="roundRect">
            <a:avLst>
              <a:gd name="adj" fmla="val 23333"/>
            </a:avLst>
          </a:prstGeom>
          <a:solidFill>
            <a:srgbClr val="FBF6EE"/>
          </a:solidFill>
          <a:ln w="9525">
            <a:solidFill>
              <a:srgbClr val="E3D3BA"/>
            </a:solidFill>
            <a:prstDash val="solid"/>
          </a:ln>
        </p:spPr>
      </p:sp>
      <p:sp>
        <p:nvSpPr>
          <p:cNvPr id="15" name="Shape 11"/>
          <p:cNvSpPr/>
          <p:nvPr/>
        </p:nvSpPr>
        <p:spPr>
          <a:xfrm>
            <a:off x="6547104" y="3941064"/>
            <a:ext cx="384048" cy="384048"/>
          </a:xfrm>
          <a:prstGeom prst="ellipse">
            <a:avLst/>
          </a:prstGeom>
          <a:solidFill>
            <a:srgbClr val="8C5A35"/>
          </a:solidFill>
          <a:ln/>
        </p:spPr>
      </p:sp>
      <p:pic>
        <p:nvPicPr>
          <p:cNvPr id="16" name="Image 2" descr="preencoded.png">    </p:cNvPr>
          <p:cNvPicPr>
            <a:picLocks noChangeAspect="1"/>
          </p:cNvPicPr>
          <p:nvPr/>
        </p:nvPicPr>
        <p:blipFill>
          <a:blip r:embed="rId4"/>
          <a:stretch>
            <a:fillRect/>
          </a:stretch>
        </p:blipFill>
        <p:spPr>
          <a:xfrm>
            <a:off x="6643116" y="4037076"/>
            <a:ext cx="192024" cy="192024"/>
          </a:xfrm>
          <a:prstGeom prst="rect">
            <a:avLst/>
          </a:prstGeom>
        </p:spPr>
      </p:pic>
      <p:sp>
        <p:nvSpPr>
          <p:cNvPr id="17" name="Text 12"/>
          <p:cNvSpPr txBox="1"/>
          <p:nvPr/>
        </p:nvSpPr>
        <p:spPr>
          <a:xfrm>
            <a:off x="399592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جلسات حول النار وتجارب المشروبات الساخنة</a:t>
            </a:r>
            <a:endParaRPr lang="ar-SA" sz="1400" dirty="0"/>
          </a:p>
        </p:txBody>
      </p:sp>
      <p:sp>
        <p:nvSpPr>
          <p:cNvPr id="18" name="Shape 13"/>
          <p:cNvSpPr/>
          <p:nvPr/>
        </p:nvSpPr>
        <p:spPr>
          <a:xfrm>
            <a:off x="548640" y="3858768"/>
            <a:ext cx="3154680" cy="548640"/>
          </a:xfrm>
          <a:prstGeom prst="roundRect">
            <a:avLst>
              <a:gd name="adj" fmla="val 23333"/>
            </a:avLst>
          </a:prstGeom>
          <a:solidFill>
            <a:srgbClr val="FBF6EE"/>
          </a:solidFill>
          <a:ln w="9525">
            <a:solidFill>
              <a:srgbClr val="E3D3BA"/>
            </a:solidFill>
            <a:prstDash val="solid"/>
          </a:ln>
        </p:spPr>
      </p:sp>
      <p:sp>
        <p:nvSpPr>
          <p:cNvPr id="19" name="Shape 14"/>
          <p:cNvSpPr/>
          <p:nvPr/>
        </p:nvSpPr>
        <p:spPr>
          <a:xfrm>
            <a:off x="3209544" y="3941064"/>
            <a:ext cx="384048" cy="384048"/>
          </a:xfrm>
          <a:prstGeom prst="ellipse">
            <a:avLst/>
          </a:prstGeom>
          <a:solidFill>
            <a:srgbClr val="8C5A35"/>
          </a:solidFill>
          <a:ln/>
        </p:spPr>
      </p:sp>
      <p:pic>
        <p:nvPicPr>
          <p:cNvPr id="20" name="Image 3" descr="preencoded.png">    </p:cNvPr>
          <p:cNvPicPr>
            <a:picLocks noChangeAspect="1"/>
          </p:cNvPicPr>
          <p:nvPr/>
        </p:nvPicPr>
        <p:blipFill>
          <a:blip r:embed="rId5"/>
          <a:stretch>
            <a:fillRect/>
          </a:stretch>
        </p:blipFill>
        <p:spPr>
          <a:xfrm>
            <a:off x="3305556" y="4037076"/>
            <a:ext cx="192024" cy="192024"/>
          </a:xfrm>
          <a:prstGeom prst="rect">
            <a:avLst/>
          </a:prstGeom>
        </p:spPr>
      </p:pic>
      <p:sp>
        <p:nvSpPr>
          <p:cNvPr id="21" name="Text 15"/>
          <p:cNvSpPr txBox="1"/>
          <p:nvPr/>
        </p:nvSpPr>
        <p:spPr>
          <a:xfrm>
            <a:off x="65836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ورش إبداعية وحرف يدوية</a:t>
            </a:r>
            <a:endParaRPr lang="ar-SA" sz="1400" dirty="0"/>
          </a:p>
        </p:txBody>
      </p:sp>
      <p:sp>
        <p:nvSpPr>
          <p:cNvPr id="22" name="Shape 16"/>
          <p:cNvSpPr/>
          <p:nvPr/>
        </p:nvSpPr>
        <p:spPr>
          <a:xfrm>
            <a:off x="3886200" y="4480560"/>
            <a:ext cx="3154680" cy="548640"/>
          </a:xfrm>
          <a:prstGeom prst="roundRect">
            <a:avLst>
              <a:gd name="adj" fmla="val 23333"/>
            </a:avLst>
          </a:prstGeom>
          <a:solidFill>
            <a:srgbClr val="FBF6EE"/>
          </a:solidFill>
          <a:ln w="9525">
            <a:solidFill>
              <a:srgbClr val="E3D3BA"/>
            </a:solidFill>
            <a:prstDash val="solid"/>
          </a:ln>
        </p:spPr>
      </p:sp>
      <p:sp>
        <p:nvSpPr>
          <p:cNvPr id="23" name="Shape 17"/>
          <p:cNvSpPr/>
          <p:nvPr/>
        </p:nvSpPr>
        <p:spPr>
          <a:xfrm>
            <a:off x="6547104" y="4562856"/>
            <a:ext cx="384048" cy="384048"/>
          </a:xfrm>
          <a:prstGeom prst="ellipse">
            <a:avLst/>
          </a:prstGeom>
          <a:solidFill>
            <a:srgbClr val="8C5A35"/>
          </a:solidFill>
          <a:ln/>
        </p:spPr>
      </p:sp>
      <p:pic>
        <p:nvPicPr>
          <p:cNvPr id="24" name="Image 4" descr="preencoded.png">    </p:cNvPr>
          <p:cNvPicPr>
            <a:picLocks noChangeAspect="1"/>
          </p:cNvPicPr>
          <p:nvPr/>
        </p:nvPicPr>
        <p:blipFill>
          <a:blip r:embed="rId6"/>
          <a:stretch>
            <a:fillRect/>
          </a:stretch>
        </p:blipFill>
        <p:spPr>
          <a:xfrm>
            <a:off x="6643116" y="4658868"/>
            <a:ext cx="192024" cy="192024"/>
          </a:xfrm>
          <a:prstGeom prst="rect">
            <a:avLst/>
          </a:prstGeom>
        </p:spPr>
      </p:pic>
      <p:sp>
        <p:nvSpPr>
          <p:cNvPr id="25" name="Text 18"/>
          <p:cNvSpPr txBox="1"/>
          <p:nvPr/>
        </p:nvSpPr>
        <p:spPr>
          <a:xfrm>
            <a:off x="399592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تجارب طهي وضيافة خارجية</a:t>
            </a:r>
            <a:endParaRPr lang="ar-SA" sz="1400" dirty="0"/>
          </a:p>
        </p:txBody>
      </p:sp>
      <p:sp>
        <p:nvSpPr>
          <p:cNvPr id="26" name="Shape 19"/>
          <p:cNvSpPr/>
          <p:nvPr/>
        </p:nvSpPr>
        <p:spPr>
          <a:xfrm>
            <a:off x="548640" y="4480560"/>
            <a:ext cx="3154680" cy="548640"/>
          </a:xfrm>
          <a:prstGeom prst="roundRect">
            <a:avLst>
              <a:gd name="adj" fmla="val 23333"/>
            </a:avLst>
          </a:prstGeom>
          <a:solidFill>
            <a:srgbClr val="FBF6EE"/>
          </a:solidFill>
          <a:ln w="9525">
            <a:solidFill>
              <a:srgbClr val="E3D3BA"/>
            </a:solidFill>
            <a:prstDash val="solid"/>
          </a:ln>
        </p:spPr>
      </p:sp>
      <p:sp>
        <p:nvSpPr>
          <p:cNvPr id="27" name="Shape 20"/>
          <p:cNvSpPr/>
          <p:nvPr/>
        </p:nvSpPr>
        <p:spPr>
          <a:xfrm>
            <a:off x="3209544" y="4562856"/>
            <a:ext cx="384048" cy="384048"/>
          </a:xfrm>
          <a:prstGeom prst="ellipse">
            <a:avLst/>
          </a:prstGeom>
          <a:solidFill>
            <a:srgbClr val="8C5A35"/>
          </a:solidFill>
          <a:ln/>
        </p:spPr>
      </p:sp>
      <p:pic>
        <p:nvPicPr>
          <p:cNvPr id="28" name="Image 5" descr="preencoded.png">    </p:cNvPr>
          <p:cNvPicPr>
            <a:picLocks noChangeAspect="1"/>
          </p:cNvPicPr>
          <p:nvPr/>
        </p:nvPicPr>
        <p:blipFill>
          <a:blip r:embed="rId7"/>
          <a:stretch>
            <a:fillRect/>
          </a:stretch>
        </p:blipFill>
        <p:spPr>
          <a:xfrm>
            <a:off x="3305556" y="4658868"/>
            <a:ext cx="192024" cy="192024"/>
          </a:xfrm>
          <a:prstGeom prst="rect">
            <a:avLst/>
          </a:prstGeom>
        </p:spPr>
      </p:pic>
      <p:sp>
        <p:nvSpPr>
          <p:cNvPr id="29" name="Text 21"/>
          <p:cNvSpPr txBox="1"/>
          <p:nvPr/>
        </p:nvSpPr>
        <p:spPr>
          <a:xfrm>
            <a:off x="65836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جلسات يوغا أو استرخاء بإشراف مختصات</a:t>
            </a:r>
            <a:endParaRPr lang="ar-SA" sz="1400" dirty="0"/>
          </a:p>
        </p:txBody>
      </p:sp>
      <p:sp>
        <p:nvSpPr>
          <p:cNvPr id="30" name="Shape 22"/>
          <p:cNvSpPr/>
          <p:nvPr/>
        </p:nvSpPr>
        <p:spPr>
          <a:xfrm>
            <a:off x="3886200" y="5102352"/>
            <a:ext cx="3154680" cy="548640"/>
          </a:xfrm>
          <a:prstGeom prst="roundRect">
            <a:avLst>
              <a:gd name="adj" fmla="val 23333"/>
            </a:avLst>
          </a:prstGeom>
          <a:solidFill>
            <a:srgbClr val="FBF6EE"/>
          </a:solidFill>
          <a:ln w="9525">
            <a:solidFill>
              <a:srgbClr val="E3D3BA"/>
            </a:solidFill>
            <a:prstDash val="solid"/>
          </a:ln>
        </p:spPr>
      </p:sp>
      <p:sp>
        <p:nvSpPr>
          <p:cNvPr id="31" name="Shape 23"/>
          <p:cNvSpPr/>
          <p:nvPr/>
        </p:nvSpPr>
        <p:spPr>
          <a:xfrm>
            <a:off x="6547104" y="5184648"/>
            <a:ext cx="384048" cy="384048"/>
          </a:xfrm>
          <a:prstGeom prst="ellipse">
            <a:avLst/>
          </a:prstGeom>
          <a:solidFill>
            <a:srgbClr val="8C5A35"/>
          </a:solidFill>
          <a:ln/>
        </p:spPr>
      </p:sp>
      <p:pic>
        <p:nvPicPr>
          <p:cNvPr id="32" name="Image 6" descr="preencoded.png">    </p:cNvPr>
          <p:cNvPicPr>
            <a:picLocks noChangeAspect="1"/>
          </p:cNvPicPr>
          <p:nvPr/>
        </p:nvPicPr>
        <p:blipFill>
          <a:blip r:embed="rId8"/>
          <a:stretch>
            <a:fillRect/>
          </a:stretch>
        </p:blipFill>
        <p:spPr>
          <a:xfrm>
            <a:off x="6643116" y="5280660"/>
            <a:ext cx="192024" cy="192024"/>
          </a:xfrm>
          <a:prstGeom prst="rect">
            <a:avLst/>
          </a:prstGeom>
        </p:spPr>
      </p:pic>
      <p:sp>
        <p:nvSpPr>
          <p:cNvPr id="33" name="Text 24"/>
          <p:cNvSpPr txBox="1"/>
          <p:nvPr/>
        </p:nvSpPr>
        <p:spPr>
          <a:xfrm>
            <a:off x="399592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أنشطة اجتماعية وتجارب جماعية</a:t>
            </a:r>
            <a:endParaRPr lang="ar-SA" sz="1400" dirty="0"/>
          </a:p>
        </p:txBody>
      </p:sp>
      <p:sp>
        <p:nvSpPr>
          <p:cNvPr id="34" name="Shape 25"/>
          <p:cNvSpPr/>
          <p:nvPr/>
        </p:nvSpPr>
        <p:spPr>
          <a:xfrm>
            <a:off x="548640" y="5102352"/>
            <a:ext cx="3154680" cy="548640"/>
          </a:xfrm>
          <a:prstGeom prst="roundRect">
            <a:avLst>
              <a:gd name="adj" fmla="val 23333"/>
            </a:avLst>
          </a:prstGeom>
          <a:solidFill>
            <a:srgbClr val="FBF6EE"/>
          </a:solidFill>
          <a:ln w="9525">
            <a:solidFill>
              <a:srgbClr val="E3D3BA"/>
            </a:solidFill>
            <a:prstDash val="solid"/>
          </a:ln>
        </p:spPr>
      </p:sp>
      <p:sp>
        <p:nvSpPr>
          <p:cNvPr id="35" name="Shape 26"/>
          <p:cNvSpPr/>
          <p:nvPr/>
        </p:nvSpPr>
        <p:spPr>
          <a:xfrm>
            <a:off x="3209544" y="5184648"/>
            <a:ext cx="384048" cy="384048"/>
          </a:xfrm>
          <a:prstGeom prst="ellipse">
            <a:avLst/>
          </a:prstGeom>
          <a:solidFill>
            <a:srgbClr val="8C5A35"/>
          </a:solidFill>
          <a:ln/>
        </p:spPr>
      </p:sp>
      <p:pic>
        <p:nvPicPr>
          <p:cNvPr id="36" name="Image 7" descr="preencoded.png">    </p:cNvPr>
          <p:cNvPicPr>
            <a:picLocks noChangeAspect="1"/>
          </p:cNvPicPr>
          <p:nvPr/>
        </p:nvPicPr>
        <p:blipFill>
          <a:blip r:embed="rId9"/>
          <a:stretch>
            <a:fillRect/>
          </a:stretch>
        </p:blipFill>
        <p:spPr>
          <a:xfrm>
            <a:off x="3305556" y="5280660"/>
            <a:ext cx="192024" cy="192024"/>
          </a:xfrm>
          <a:prstGeom prst="rect">
            <a:avLst/>
          </a:prstGeom>
        </p:spPr>
      </p:pic>
      <p:sp>
        <p:nvSpPr>
          <p:cNvPr id="37" name="Text 27"/>
          <p:cNvSpPr txBox="1"/>
          <p:nvPr/>
        </p:nvSpPr>
        <p:spPr>
          <a:xfrm>
            <a:off x="65836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برامج موسمية ولقاءات خاصة</a:t>
            </a:r>
            <a:endParaRPr lang="ar-SA" sz="1400" dirty="0"/>
          </a:p>
        </p:txBody>
      </p:sp>
      <p:sp>
        <p:nvSpPr>
          <p:cNvPr id="38" name="Shape 28"/>
          <p:cNvSpPr/>
          <p:nvPr/>
        </p:nvSpPr>
        <p:spPr>
          <a:xfrm>
            <a:off x="3886200" y="5724144"/>
            <a:ext cx="3154680" cy="548640"/>
          </a:xfrm>
          <a:prstGeom prst="roundRect">
            <a:avLst>
              <a:gd name="adj" fmla="val 23333"/>
            </a:avLst>
          </a:prstGeom>
          <a:solidFill>
            <a:srgbClr val="FBF6EE"/>
          </a:solidFill>
          <a:ln w="9525">
            <a:solidFill>
              <a:srgbClr val="E3D3BA"/>
            </a:solidFill>
            <a:prstDash val="solid"/>
          </a:ln>
        </p:spPr>
      </p:sp>
      <p:sp>
        <p:nvSpPr>
          <p:cNvPr id="39" name="Shape 29"/>
          <p:cNvSpPr/>
          <p:nvPr/>
        </p:nvSpPr>
        <p:spPr>
          <a:xfrm>
            <a:off x="6547104" y="5806440"/>
            <a:ext cx="384048" cy="384048"/>
          </a:xfrm>
          <a:prstGeom prst="ellipse">
            <a:avLst/>
          </a:prstGeom>
          <a:solidFill>
            <a:srgbClr val="8C5A35"/>
          </a:solidFill>
          <a:ln/>
        </p:spPr>
      </p:sp>
      <p:pic>
        <p:nvPicPr>
          <p:cNvPr id="40" name="Image 8" descr="preencoded.png">    </p:cNvPr>
          <p:cNvPicPr>
            <a:picLocks noChangeAspect="1"/>
          </p:cNvPicPr>
          <p:nvPr/>
        </p:nvPicPr>
        <p:blipFill>
          <a:blip r:embed="rId10"/>
          <a:stretch>
            <a:fillRect/>
          </a:stretch>
        </p:blipFill>
        <p:spPr>
          <a:xfrm>
            <a:off x="6643116" y="5902452"/>
            <a:ext cx="192024" cy="192024"/>
          </a:xfrm>
          <a:prstGeom prst="rect">
            <a:avLst/>
          </a:prstGeom>
        </p:spPr>
      </p:pic>
      <p:sp>
        <p:nvSpPr>
          <p:cNvPr id="41" name="Text 30"/>
          <p:cNvSpPr txBox="1"/>
          <p:nvPr/>
        </p:nvSpPr>
        <p:spPr>
          <a:xfrm>
            <a:off x="3995928" y="5724144"/>
            <a:ext cx="2441448"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باقات تخييم تشمل الإقامة والضيافة والأنشطة</a:t>
            </a:r>
            <a:endParaRPr lang="ar-SA" sz="1400" dirty="0"/>
          </a:p>
        </p:txBody>
      </p:sp>
      <p:sp>
        <p:nvSpPr>
          <p:cNvPr id="42" name="Text 31"/>
          <p:cNvSpPr txBox="1"/>
          <p:nvPr/>
        </p:nvSpPr>
        <p:spPr>
          <a:xfrm>
            <a:off x="548640" y="6446520"/>
            <a:ext cx="6492240" cy="228600"/>
          </a:xfrm>
          <a:prstGeom prst="rect">
            <a:avLst/>
          </a:prstGeom>
          <a:noFill/>
          <a:ln/>
        </p:spPr>
        <p:txBody>
          <a:bodyPr wrap="square" lIns="0" tIns="0" rIns="0" bIns="0" rtlCol="0" anchor="ctr"/>
          <a:lstStyle/>
          <a:p>
            <a:pPr rtl="1" algn="r" indent="0" marL="0">
              <a:buNone/>
            </a:pPr>
            <a:r>
              <a:rPr lang="ar-SA" altLang="en-US" sz="1000" dirty="0">
                <a:solidFill>
                  <a:srgbClr val="7A5C44"/>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1005840"/>
            <a:ext cx="11091672" cy="2103120"/>
          </a:xfrm>
          <a:prstGeom prst="roundRect">
            <a:avLst>
              <a:gd name="adj" fmla="val 17391"/>
            </a:avLst>
          </a:prstGeom>
          <a:solidFill>
            <a:srgbClr val="E6D6BC"/>
          </a:solidFill>
          <a:ln w="15875">
            <a:solidFill>
              <a:srgbClr val="A68460"/>
            </a:solidFill>
            <a:prstDash val="dash"/>
          </a:ln>
        </p:spPr>
      </p:sp>
      <p:sp>
        <p:nvSpPr>
          <p:cNvPr id="3" name="Shape 1"/>
          <p:cNvSpPr/>
          <p:nvPr/>
        </p:nvSpPr>
        <p:spPr>
          <a:xfrm>
            <a:off x="713232" y="1170432"/>
            <a:ext cx="10762488" cy="1773936"/>
          </a:xfrm>
          <a:prstGeom prst="roundRect">
            <a:avLst>
              <a:gd name="adj" fmla="val 14433"/>
            </a:avLst>
          </a:prstGeom>
          <a:noFill/>
          <a:ln w="9525">
            <a:solidFill>
              <a:srgbClr val="7E6248">
                <a:alpha val="45000"/>
              </a:srgbClr>
            </a:solidFill>
            <a:prstDash val="solid"/>
          </a:ln>
        </p:spPr>
      </p:sp>
      <p:pic>
        <p:nvPicPr>
          <p:cNvPr id="4" name="Image 0" descr="preencoded.png">    </p:cNvPr>
          <p:cNvPicPr>
            <a:picLocks noChangeAspect="1"/>
          </p:cNvPicPr>
          <p:nvPr/>
        </p:nvPicPr>
        <p:blipFill>
          <a:blip r:embed="rId2">
            <a:alphaModFix amt="70000"/>
          </a:blip>
          <a:stretch>
            <a:fillRect/>
          </a:stretch>
        </p:blipFill>
        <p:spPr>
          <a:xfrm>
            <a:off x="5728716" y="1188720"/>
            <a:ext cx="731520" cy="731520"/>
          </a:xfrm>
          <a:prstGeom prst="rect">
            <a:avLst/>
          </a:prstGeom>
        </p:spPr>
      </p:pic>
      <p:sp>
        <p:nvSpPr>
          <p:cNvPr id="5" name="Text 2"/>
          <p:cNvSpPr txBox="1"/>
          <p:nvPr/>
        </p:nvSpPr>
        <p:spPr>
          <a:xfrm>
            <a:off x="548640" y="2148840"/>
            <a:ext cx="11091672" cy="365760"/>
          </a:xfrm>
          <a:prstGeom prst="rect">
            <a:avLst/>
          </a:prstGeom>
          <a:noFill/>
          <a:ln/>
        </p:spPr>
        <p:txBody>
          <a:bodyPr wrap="square" lIns="0" tIns="0" rIns="0" bIns="0" rtlCol="0" anchor="ctr"/>
          <a:lstStyle/>
          <a:p>
            <a:pPr rtl="1" algn="ctr" indent="0" marL="0">
              <a:buNone/>
            </a:pPr>
            <a:r>
              <a:rPr lang="ar-SA" altLang="en-US" sz="1800" b="1" dirty="0">
                <a:solidFill>
                  <a:srgbClr val="7A5C44"/>
                </a:solidFill>
                <a:latin typeface="Dubai" pitchFamily="34" charset="0"/>
                <a:ea typeface="Dubai" pitchFamily="34" charset="-122"/>
                <a:cs typeface="Dubai" pitchFamily="34" charset="-120"/>
              </a:rPr>
              <a:t>مساحة الصورة</a:t>
            </a:r>
            <a:endParaRPr lang="ar-SA" sz="1800" dirty="0"/>
          </a:p>
        </p:txBody>
      </p:sp>
      <p:sp>
        <p:nvSpPr>
          <p:cNvPr id="6" name="Text 3"/>
          <p:cNvSpPr txBox="1"/>
          <p:nvPr/>
        </p:nvSpPr>
        <p:spPr>
          <a:xfrm>
            <a:off x="548640" y="2560320"/>
            <a:ext cx="11091672" cy="274320"/>
          </a:xfrm>
          <a:prstGeom prst="rect">
            <a:avLst/>
          </a:prstGeom>
          <a:noFill/>
          <a:ln/>
        </p:spPr>
        <p:txBody>
          <a:bodyPr wrap="square" lIns="0" tIns="0" rIns="0" bIns="0" rtlCol="0" anchor="ctr"/>
          <a:lstStyle/>
          <a:p>
            <a:pPr rtl="1" algn="ctr" indent="0" marL="0">
              <a:buNone/>
            </a:pPr>
            <a:r>
              <a:rPr lang="ar-SA" altLang="en-US" sz="1200" dirty="0">
                <a:solidFill>
                  <a:srgbClr val="7A5C44"/>
                </a:solidFill>
                <a:latin typeface="Dubai" pitchFamily="34" charset="0"/>
                <a:ea typeface="Dubai" pitchFamily="34" charset="-122"/>
                <a:cs typeface="Dubai" pitchFamily="34" charset="-120"/>
              </a:rPr>
              <a:t>صورة ٣</a:t>
            </a:r>
            <a:endParaRPr lang="ar-SA" sz="1200" dirty="0"/>
          </a:p>
        </p:txBody>
      </p:sp>
      <p:sp>
        <p:nvSpPr>
          <p:cNvPr id="7" name="Shape 4"/>
          <p:cNvSpPr/>
          <p:nvPr/>
        </p:nvSpPr>
        <p:spPr>
          <a:xfrm>
            <a:off x="8202168" y="365760"/>
            <a:ext cx="3438144" cy="365760"/>
          </a:xfrm>
          <a:prstGeom prst="roundRect">
            <a:avLst>
              <a:gd name="adj" fmla="val 50000"/>
            </a:avLst>
          </a:prstGeom>
          <a:solidFill>
            <a:srgbClr val="7E6248">
              <a:alpha val="18000"/>
            </a:srgbClr>
          </a:solidFill>
          <a:ln w="9525">
            <a:solidFill>
              <a:srgbClr val="7E6248"/>
            </a:solidFill>
            <a:prstDash val="solid"/>
          </a:ln>
        </p:spPr>
      </p:sp>
      <p:pic>
        <p:nvPicPr>
          <p:cNvPr id="8" name="Image 1" descr="preencoded.png">    </p:cNvPr>
          <p:cNvPicPr>
            <a:picLocks noChangeAspect="1"/>
          </p:cNvPicPr>
          <p:nvPr/>
        </p:nvPicPr>
        <p:blipFill>
          <a:blip r:embed="rId3"/>
          <a:stretch>
            <a:fillRect/>
          </a:stretch>
        </p:blipFill>
        <p:spPr>
          <a:xfrm>
            <a:off x="11292840" y="448056"/>
            <a:ext cx="201168" cy="201168"/>
          </a:xfrm>
          <a:prstGeom prst="rect">
            <a:avLst/>
          </a:prstGeom>
        </p:spPr>
      </p:pic>
      <p:sp>
        <p:nvSpPr>
          <p:cNvPr id="9" name="Text 5"/>
          <p:cNvSpPr txBox="1"/>
          <p:nvPr/>
        </p:nvSpPr>
        <p:spPr>
          <a:xfrm>
            <a:off x="8311896" y="365760"/>
            <a:ext cx="2889504" cy="365760"/>
          </a:xfrm>
          <a:prstGeom prst="rect">
            <a:avLst/>
          </a:prstGeom>
          <a:noFill/>
          <a:ln/>
        </p:spPr>
        <p:txBody>
          <a:bodyPr wrap="square" lIns="0" tIns="0" rIns="0" bIns="0" rtlCol="0" anchor="ctr"/>
          <a:lstStyle/>
          <a:p>
            <a:pPr rtl="1" algn="r" indent="0" marL="0">
              <a:buNone/>
            </a:pPr>
            <a:r>
              <a:rPr lang="ar-SA" altLang="en-US" sz="1300" b="1" dirty="0">
                <a:solidFill>
                  <a:srgbClr val="7E6248"/>
                </a:solidFill>
                <a:latin typeface="Dubai" pitchFamily="34" charset="0"/>
                <a:ea typeface="Dubai" pitchFamily="34" charset="-122"/>
                <a:cs typeface="Dubai" pitchFamily="34" charset="-120"/>
              </a:rPr>
              <a:t>القصب — حكاية الملح</a:t>
            </a:r>
            <a:endParaRPr lang="ar-SA" sz="1300" dirty="0"/>
          </a:p>
        </p:txBody>
      </p:sp>
      <p:sp>
        <p:nvSpPr>
          <p:cNvPr id="10" name="Text 6"/>
          <p:cNvSpPr txBox="1"/>
          <p:nvPr/>
        </p:nvSpPr>
        <p:spPr>
          <a:xfrm>
            <a:off x="6035040" y="3337560"/>
            <a:ext cx="5605272" cy="1143000"/>
          </a:xfrm>
          <a:prstGeom prst="rect">
            <a:avLst/>
          </a:prstGeom>
          <a:noFill/>
          <a:ln/>
        </p:spPr>
        <p:txBody>
          <a:bodyPr wrap="square" lIns="0" tIns="0" rIns="0" bIns="0" rtlCol="0" anchor="t"/>
          <a:lstStyle/>
          <a:p>
            <a:pPr rtl="1" algn="r" indent="0" marL="0">
              <a:buNone/>
            </a:pPr>
            <a:r>
              <a:rPr lang="ar-SA" altLang="en-US" sz="3600" b="1" dirty="0">
                <a:solidFill>
                  <a:srgbClr val="3B2A1E"/>
                </a:solidFill>
                <a:latin typeface="Dubai" pitchFamily="34" charset="0"/>
                <a:ea typeface="Dubai" pitchFamily="34" charset="-122"/>
                <a:cs typeface="Dubai" pitchFamily="34" charset="-120"/>
              </a:rPr>
              <a:t>من الملح تبدأ الحكاية</a:t>
            </a:r>
            <a:endParaRPr lang="ar-SA" sz="3600" dirty="0"/>
          </a:p>
        </p:txBody>
      </p:sp>
      <p:sp>
        <p:nvSpPr>
          <p:cNvPr id="11" name="Text 7"/>
          <p:cNvSpPr txBox="1"/>
          <p:nvPr/>
        </p:nvSpPr>
        <p:spPr>
          <a:xfrm>
            <a:off x="6035040" y="4526280"/>
            <a:ext cx="5605272" cy="17373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في القصب، حيث يرتبط المكان بإرث الملح، نصنع تجربة استجمام مختلفة تستلهم هويتها من ثروات الأرض المحلية، وتحوّل الملح من منتج تقليدي إلى تجربة حسية متكاملة.</a:t>
            </a:r>
            <a:endParaRPr lang="ar-SA" sz="1500" dirty="0"/>
          </a:p>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وجهة تجمع بين الاسترخاء، والتعرّف على استخدامات الملح، واكتشاف منتجات مستوحاة من طبيعته.</a:t>
            </a:r>
            <a:endParaRPr lang="ar-SA" sz="1500" dirty="0"/>
          </a:p>
        </p:txBody>
      </p:sp>
      <p:sp>
        <p:nvSpPr>
          <p:cNvPr id="12" name="Text 8"/>
          <p:cNvSpPr txBox="1"/>
          <p:nvPr/>
        </p:nvSpPr>
        <p:spPr>
          <a:xfrm>
            <a:off x="548640" y="3291840"/>
            <a:ext cx="5029200" cy="274320"/>
          </a:xfrm>
          <a:prstGeom prst="rect">
            <a:avLst/>
          </a:prstGeom>
          <a:noFill/>
          <a:ln/>
        </p:spPr>
        <p:txBody>
          <a:bodyPr wrap="square" lIns="0" tIns="0" rIns="0" bIns="0" rtlCol="0" anchor="ctr"/>
          <a:lstStyle/>
          <a:p>
            <a:pPr rtl="1" algn="r" indent="0" marL="0">
              <a:buNone/>
            </a:pPr>
            <a:r>
              <a:rPr lang="ar-SA" altLang="en-US" sz="1400" b="1" dirty="0">
                <a:solidFill>
                  <a:srgbClr val="7E6248"/>
                </a:solidFill>
                <a:latin typeface="Dubai" pitchFamily="34" charset="0"/>
                <a:ea typeface="Dubai" pitchFamily="34" charset="-122"/>
                <a:cs typeface="Dubai" pitchFamily="34" charset="-120"/>
              </a:rPr>
              <a:t>عناصر التجربة</a:t>
            </a:r>
            <a:endParaRPr lang="ar-SA" sz="1400" dirty="0"/>
          </a:p>
        </p:txBody>
      </p:sp>
      <p:sp>
        <p:nvSpPr>
          <p:cNvPr id="13" name="Shape 9"/>
          <p:cNvSpPr/>
          <p:nvPr/>
        </p:nvSpPr>
        <p:spPr>
          <a:xfrm>
            <a:off x="548640" y="3657600"/>
            <a:ext cx="5029200" cy="402336"/>
          </a:xfrm>
          <a:prstGeom prst="roundRect">
            <a:avLst>
              <a:gd name="adj" fmla="val 31818"/>
            </a:avLst>
          </a:prstGeom>
          <a:solidFill>
            <a:srgbClr val="FBF6EE"/>
          </a:solidFill>
          <a:ln w="9525">
            <a:solidFill>
              <a:srgbClr val="E3D3BA"/>
            </a:solidFill>
            <a:prstDash val="solid"/>
          </a:ln>
        </p:spPr>
      </p:sp>
      <p:sp>
        <p:nvSpPr>
          <p:cNvPr id="14" name="Shape 10"/>
          <p:cNvSpPr/>
          <p:nvPr/>
        </p:nvSpPr>
        <p:spPr>
          <a:xfrm>
            <a:off x="5157216" y="3703320"/>
            <a:ext cx="310896" cy="310896"/>
          </a:xfrm>
          <a:prstGeom prst="ellipse">
            <a:avLst/>
          </a:prstGeom>
          <a:solidFill>
            <a:srgbClr val="7E6248"/>
          </a:solidFill>
          <a:ln/>
        </p:spPr>
      </p:sp>
      <p:pic>
        <p:nvPicPr>
          <p:cNvPr id="15" name="Image 2" descr="preencoded.png">    </p:cNvPr>
          <p:cNvPicPr>
            <a:picLocks noChangeAspect="1"/>
          </p:cNvPicPr>
          <p:nvPr/>
        </p:nvPicPr>
        <p:blipFill>
          <a:blip r:embed="rId4"/>
          <a:stretch>
            <a:fillRect/>
          </a:stretch>
        </p:blipFill>
        <p:spPr>
          <a:xfrm>
            <a:off x="5234940" y="3781044"/>
            <a:ext cx="155448" cy="155448"/>
          </a:xfrm>
          <a:prstGeom prst="rect">
            <a:avLst/>
          </a:prstGeom>
        </p:spPr>
      </p:pic>
      <p:sp>
        <p:nvSpPr>
          <p:cNvPr id="16" name="Text 11"/>
          <p:cNvSpPr txBox="1"/>
          <p:nvPr/>
        </p:nvSpPr>
        <p:spPr>
          <a:xfrm>
            <a:off x="658368" y="36576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التعريف بتاريخ الملح ومصادره</a:t>
            </a:r>
            <a:endParaRPr lang="ar-SA" sz="1400" dirty="0"/>
          </a:p>
        </p:txBody>
      </p:sp>
      <p:sp>
        <p:nvSpPr>
          <p:cNvPr id="17" name="Shape 12"/>
          <p:cNvSpPr/>
          <p:nvPr/>
        </p:nvSpPr>
        <p:spPr>
          <a:xfrm>
            <a:off x="548640" y="4114800"/>
            <a:ext cx="5029200" cy="402336"/>
          </a:xfrm>
          <a:prstGeom prst="roundRect">
            <a:avLst>
              <a:gd name="adj" fmla="val 31818"/>
            </a:avLst>
          </a:prstGeom>
          <a:solidFill>
            <a:srgbClr val="FBF6EE"/>
          </a:solidFill>
          <a:ln w="9525">
            <a:solidFill>
              <a:srgbClr val="E3D3BA"/>
            </a:solidFill>
            <a:prstDash val="solid"/>
          </a:ln>
        </p:spPr>
      </p:sp>
      <p:sp>
        <p:nvSpPr>
          <p:cNvPr id="18" name="Shape 13"/>
          <p:cNvSpPr/>
          <p:nvPr/>
        </p:nvSpPr>
        <p:spPr>
          <a:xfrm>
            <a:off x="5157216" y="4160520"/>
            <a:ext cx="310896" cy="310896"/>
          </a:xfrm>
          <a:prstGeom prst="ellipse">
            <a:avLst/>
          </a:prstGeom>
          <a:solidFill>
            <a:srgbClr val="7E6248"/>
          </a:solidFill>
          <a:ln/>
        </p:spPr>
      </p:sp>
      <p:pic>
        <p:nvPicPr>
          <p:cNvPr id="19" name="Image 3" descr="preencoded.png">    </p:cNvPr>
          <p:cNvPicPr>
            <a:picLocks noChangeAspect="1"/>
          </p:cNvPicPr>
          <p:nvPr/>
        </p:nvPicPr>
        <p:blipFill>
          <a:blip r:embed="rId5"/>
          <a:stretch>
            <a:fillRect/>
          </a:stretch>
        </p:blipFill>
        <p:spPr>
          <a:xfrm>
            <a:off x="5234940" y="4238244"/>
            <a:ext cx="155448" cy="155448"/>
          </a:xfrm>
          <a:prstGeom prst="rect">
            <a:avLst/>
          </a:prstGeom>
        </p:spPr>
      </p:pic>
      <p:sp>
        <p:nvSpPr>
          <p:cNvPr id="20" name="Text 14"/>
          <p:cNvSpPr txBox="1"/>
          <p:nvPr/>
        </p:nvSpPr>
        <p:spPr>
          <a:xfrm>
            <a:off x="658368" y="41148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إبراز طرق استخدامه في الحياة اليومية</a:t>
            </a:r>
            <a:endParaRPr lang="ar-SA" sz="1400" dirty="0"/>
          </a:p>
        </p:txBody>
      </p:sp>
      <p:sp>
        <p:nvSpPr>
          <p:cNvPr id="21" name="Shape 15"/>
          <p:cNvSpPr/>
          <p:nvPr/>
        </p:nvSpPr>
        <p:spPr>
          <a:xfrm>
            <a:off x="548640" y="4572000"/>
            <a:ext cx="5029200" cy="402336"/>
          </a:xfrm>
          <a:prstGeom prst="roundRect">
            <a:avLst>
              <a:gd name="adj" fmla="val 31818"/>
            </a:avLst>
          </a:prstGeom>
          <a:solidFill>
            <a:srgbClr val="FBF6EE"/>
          </a:solidFill>
          <a:ln w="9525">
            <a:solidFill>
              <a:srgbClr val="E3D3BA"/>
            </a:solidFill>
            <a:prstDash val="solid"/>
          </a:ln>
        </p:spPr>
      </p:sp>
      <p:sp>
        <p:nvSpPr>
          <p:cNvPr id="22" name="Shape 16"/>
          <p:cNvSpPr/>
          <p:nvPr/>
        </p:nvSpPr>
        <p:spPr>
          <a:xfrm>
            <a:off x="5157216" y="4617720"/>
            <a:ext cx="310896" cy="310896"/>
          </a:xfrm>
          <a:prstGeom prst="ellipse">
            <a:avLst/>
          </a:prstGeom>
          <a:solidFill>
            <a:srgbClr val="7E6248"/>
          </a:solidFill>
          <a:ln/>
        </p:spPr>
      </p:sp>
      <p:pic>
        <p:nvPicPr>
          <p:cNvPr id="23" name="Image 4" descr="preencoded.png">    </p:cNvPr>
          <p:cNvPicPr>
            <a:picLocks noChangeAspect="1"/>
          </p:cNvPicPr>
          <p:nvPr/>
        </p:nvPicPr>
        <p:blipFill>
          <a:blip r:embed="rId6"/>
          <a:stretch>
            <a:fillRect/>
          </a:stretch>
        </p:blipFill>
        <p:spPr>
          <a:xfrm>
            <a:off x="5234940" y="4695444"/>
            <a:ext cx="155448" cy="155448"/>
          </a:xfrm>
          <a:prstGeom prst="rect">
            <a:avLst/>
          </a:prstGeom>
        </p:spPr>
      </p:pic>
      <p:sp>
        <p:nvSpPr>
          <p:cNvPr id="24" name="Text 17"/>
          <p:cNvSpPr txBox="1"/>
          <p:nvPr/>
        </p:nvSpPr>
        <p:spPr>
          <a:xfrm>
            <a:off x="658368" y="45720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عرض المنتجات المحلية المرتبطة بالملح</a:t>
            </a:r>
            <a:endParaRPr lang="ar-SA" sz="1400" dirty="0"/>
          </a:p>
        </p:txBody>
      </p:sp>
      <p:sp>
        <p:nvSpPr>
          <p:cNvPr id="25" name="Shape 18"/>
          <p:cNvSpPr/>
          <p:nvPr/>
        </p:nvSpPr>
        <p:spPr>
          <a:xfrm>
            <a:off x="548640" y="5029200"/>
            <a:ext cx="5029200" cy="402336"/>
          </a:xfrm>
          <a:prstGeom prst="roundRect">
            <a:avLst>
              <a:gd name="adj" fmla="val 31818"/>
            </a:avLst>
          </a:prstGeom>
          <a:solidFill>
            <a:srgbClr val="FBF6EE"/>
          </a:solidFill>
          <a:ln w="9525">
            <a:solidFill>
              <a:srgbClr val="E3D3BA"/>
            </a:solidFill>
            <a:prstDash val="solid"/>
          </a:ln>
        </p:spPr>
      </p:sp>
      <p:sp>
        <p:nvSpPr>
          <p:cNvPr id="26" name="Shape 19"/>
          <p:cNvSpPr/>
          <p:nvPr/>
        </p:nvSpPr>
        <p:spPr>
          <a:xfrm>
            <a:off x="5157216" y="5074920"/>
            <a:ext cx="310896" cy="310896"/>
          </a:xfrm>
          <a:prstGeom prst="ellipse">
            <a:avLst/>
          </a:prstGeom>
          <a:solidFill>
            <a:srgbClr val="7E6248"/>
          </a:solidFill>
          <a:ln/>
        </p:spPr>
      </p:sp>
      <p:pic>
        <p:nvPicPr>
          <p:cNvPr id="27" name="Image 5" descr="preencoded.png">    </p:cNvPr>
          <p:cNvPicPr>
            <a:picLocks noChangeAspect="1"/>
          </p:cNvPicPr>
          <p:nvPr/>
        </p:nvPicPr>
        <p:blipFill>
          <a:blip r:embed="rId7"/>
          <a:stretch>
            <a:fillRect/>
          </a:stretch>
        </p:blipFill>
        <p:spPr>
          <a:xfrm>
            <a:off x="5234940" y="5152644"/>
            <a:ext cx="155448" cy="155448"/>
          </a:xfrm>
          <a:prstGeom prst="rect">
            <a:avLst/>
          </a:prstGeom>
        </p:spPr>
      </p:pic>
      <p:sp>
        <p:nvSpPr>
          <p:cNvPr id="28" name="Text 20"/>
          <p:cNvSpPr txBox="1"/>
          <p:nvPr/>
        </p:nvSpPr>
        <p:spPr>
          <a:xfrm>
            <a:off x="658368" y="50292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تصميم مساحة حسية مستوحاة من خامات الملح</a:t>
            </a:r>
            <a:endParaRPr lang="ar-SA" sz="1400" dirty="0"/>
          </a:p>
        </p:txBody>
      </p:sp>
      <p:sp>
        <p:nvSpPr>
          <p:cNvPr id="29" name="Shape 21"/>
          <p:cNvSpPr/>
          <p:nvPr/>
        </p:nvSpPr>
        <p:spPr>
          <a:xfrm>
            <a:off x="548640" y="5486400"/>
            <a:ext cx="5029200" cy="402336"/>
          </a:xfrm>
          <a:prstGeom prst="roundRect">
            <a:avLst>
              <a:gd name="adj" fmla="val 31818"/>
            </a:avLst>
          </a:prstGeom>
          <a:solidFill>
            <a:srgbClr val="FBF6EE"/>
          </a:solidFill>
          <a:ln w="9525">
            <a:solidFill>
              <a:srgbClr val="E3D3BA"/>
            </a:solidFill>
            <a:prstDash val="solid"/>
          </a:ln>
        </p:spPr>
      </p:sp>
      <p:sp>
        <p:nvSpPr>
          <p:cNvPr id="30" name="Shape 22"/>
          <p:cNvSpPr/>
          <p:nvPr/>
        </p:nvSpPr>
        <p:spPr>
          <a:xfrm>
            <a:off x="5157216" y="5532120"/>
            <a:ext cx="310896" cy="310896"/>
          </a:xfrm>
          <a:prstGeom prst="ellipse">
            <a:avLst/>
          </a:prstGeom>
          <a:solidFill>
            <a:srgbClr val="7E6248"/>
          </a:solidFill>
          <a:ln/>
        </p:spPr>
      </p:sp>
      <p:pic>
        <p:nvPicPr>
          <p:cNvPr id="31" name="Image 6" descr="preencoded.png">    </p:cNvPr>
          <p:cNvPicPr>
            <a:picLocks noChangeAspect="1"/>
          </p:cNvPicPr>
          <p:nvPr/>
        </p:nvPicPr>
        <p:blipFill>
          <a:blip r:embed="rId8"/>
          <a:stretch>
            <a:fillRect/>
          </a:stretch>
        </p:blipFill>
        <p:spPr>
          <a:xfrm>
            <a:off x="5234940" y="5609844"/>
            <a:ext cx="155448" cy="155448"/>
          </a:xfrm>
          <a:prstGeom prst="rect">
            <a:avLst/>
          </a:prstGeom>
        </p:spPr>
      </p:pic>
      <p:sp>
        <p:nvSpPr>
          <p:cNvPr id="32" name="Text 23"/>
          <p:cNvSpPr txBox="1"/>
          <p:nvPr/>
        </p:nvSpPr>
        <p:spPr>
          <a:xfrm>
            <a:off x="658368" y="54864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تقديم تجربة استجمام بهوية محلية</a:t>
            </a:r>
            <a:endParaRPr lang="ar-SA" sz="1400" dirty="0"/>
          </a:p>
        </p:txBody>
      </p:sp>
      <p:sp>
        <p:nvSpPr>
          <p:cNvPr id="33" name="Text 24"/>
          <p:cNvSpPr txBox="1"/>
          <p:nvPr/>
        </p:nvSpPr>
        <p:spPr>
          <a:xfrm>
            <a:off x="6035040" y="6446520"/>
            <a:ext cx="5605272" cy="228600"/>
          </a:xfrm>
          <a:prstGeom prst="rect">
            <a:avLst/>
          </a:prstGeom>
          <a:noFill/>
          <a:ln/>
        </p:spPr>
        <p:txBody>
          <a:bodyPr wrap="square" lIns="0" tIns="0" rIns="0" bIns="0" rtlCol="0" anchor="ctr"/>
          <a:lstStyle/>
          <a:p>
            <a:pPr rtl="1" algn="r" indent="0" marL="0">
              <a:buNone/>
            </a:pPr>
            <a:r>
              <a:rPr lang="ar-SA" altLang="en-US" sz="1000" dirty="0">
                <a:solidFill>
                  <a:srgbClr val="7A5C44"/>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58400" y="5029200"/>
            <a:ext cx="3291840" cy="3291840"/>
          </a:xfrm>
          <a:prstGeom prst="ellipse">
            <a:avLst/>
          </a:prstGeom>
          <a:solidFill>
            <a:srgbClr val="E8D5B5">
              <a:alpha val="12000"/>
            </a:srgbClr>
          </a:solidFill>
          <a:ln w="12700">
            <a:solidFill>
              <a:srgbClr val="E8D5B5">
                <a:alpha val="0"/>
              </a:srgbClr>
            </a:solidFill>
            <a:prstDash val="solid"/>
          </a:ln>
        </p:spPr>
      </p:sp>
      <p:sp>
        <p:nvSpPr>
          <p:cNvPr id="3" name="Shape 1"/>
          <p:cNvSpPr/>
          <p:nvPr/>
        </p:nvSpPr>
        <p:spPr>
          <a:xfrm>
            <a:off x="548640" y="548640"/>
            <a:ext cx="4206240" cy="5760720"/>
          </a:xfrm>
          <a:prstGeom prst="roundRect">
            <a:avLst>
              <a:gd name="adj" fmla="val 8696"/>
            </a:avLst>
          </a:prstGeom>
          <a:solidFill>
            <a:srgbClr val="3E2D21"/>
          </a:solidFill>
          <a:ln w="15875">
            <a:solidFill>
              <a:srgbClr val="E8D5B5"/>
            </a:solidFill>
            <a:prstDash val="dash"/>
          </a:ln>
        </p:spPr>
      </p:sp>
      <p:sp>
        <p:nvSpPr>
          <p:cNvPr id="4" name="Shape 2"/>
          <p:cNvSpPr/>
          <p:nvPr/>
        </p:nvSpPr>
        <p:spPr>
          <a:xfrm>
            <a:off x="713232" y="713232"/>
            <a:ext cx="3877056" cy="5431536"/>
          </a:xfrm>
          <a:prstGeom prst="roundRect">
            <a:avLst>
              <a:gd name="adj" fmla="val 6604"/>
            </a:avLst>
          </a:prstGeom>
          <a:noFill/>
          <a:ln w="9525">
            <a:solidFill>
              <a:srgbClr val="E8D5B5">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1874520" y="2057400"/>
            <a:ext cx="1554480" cy="1554480"/>
          </a:xfrm>
          <a:prstGeom prst="rect">
            <a:avLst/>
          </a:prstGeom>
        </p:spPr>
      </p:pic>
      <p:sp>
        <p:nvSpPr>
          <p:cNvPr id="6" name="Text 3"/>
          <p:cNvSpPr txBox="1"/>
          <p:nvPr/>
        </p:nvSpPr>
        <p:spPr>
          <a:xfrm>
            <a:off x="548640" y="3840480"/>
            <a:ext cx="4206240" cy="365760"/>
          </a:xfrm>
          <a:prstGeom prst="rect">
            <a:avLst/>
          </a:prstGeom>
          <a:noFill/>
          <a:ln/>
        </p:spPr>
        <p:txBody>
          <a:bodyPr wrap="square" lIns="0" tIns="0" rIns="0" bIns="0" rtlCol="0" anchor="ctr"/>
          <a:lstStyle/>
          <a:p>
            <a:pPr rtl="1" algn="ctr" indent="0" marL="0">
              <a:buNone/>
            </a:pPr>
            <a:r>
              <a:rPr lang="ar-SA" altLang="en-US" sz="1800" b="1" dirty="0">
                <a:solidFill>
                  <a:srgbClr val="CDB79A"/>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548640" y="4251960"/>
            <a:ext cx="4206240" cy="274320"/>
          </a:xfrm>
          <a:prstGeom prst="rect">
            <a:avLst/>
          </a:prstGeom>
          <a:noFill/>
          <a:ln/>
        </p:spPr>
        <p:txBody>
          <a:bodyPr wrap="square" lIns="0" tIns="0" rIns="0" bIns="0" rtlCol="0" anchor="ctr"/>
          <a:lstStyle/>
          <a:p>
            <a:pPr rtl="1" algn="ctr" indent="0" marL="0">
              <a:buNone/>
            </a:pPr>
            <a:r>
              <a:rPr lang="ar-SA" altLang="en-US" sz="1200" dirty="0">
                <a:solidFill>
                  <a:srgbClr val="CDB79A"/>
                </a:solidFill>
                <a:latin typeface="Dubai" pitchFamily="34" charset="0"/>
                <a:ea typeface="Dubai" pitchFamily="34" charset="-122"/>
                <a:cs typeface="Dubai" pitchFamily="34" charset="-120"/>
              </a:rPr>
              <a:t>صورة ٤</a:t>
            </a:r>
            <a:endParaRPr lang="ar-SA" sz="1200" dirty="0"/>
          </a:p>
        </p:txBody>
      </p:sp>
      <p:sp>
        <p:nvSpPr>
          <p:cNvPr id="8" name="Shape 5"/>
          <p:cNvSpPr/>
          <p:nvPr/>
        </p:nvSpPr>
        <p:spPr>
          <a:xfrm>
            <a:off x="8202168" y="548640"/>
            <a:ext cx="3438144" cy="365760"/>
          </a:xfrm>
          <a:prstGeom prst="roundRect">
            <a:avLst>
              <a:gd name="adj" fmla="val 50000"/>
            </a:avLst>
          </a:prstGeom>
          <a:solidFill>
            <a:srgbClr val="E8D5B5">
              <a:alpha val="25000"/>
            </a:srgbClr>
          </a:solidFill>
          <a:ln w="9525">
            <a:solidFill>
              <a:srgbClr val="E8D5B5"/>
            </a:solidFill>
            <a:prstDash val="solid"/>
          </a:ln>
        </p:spPr>
      </p:sp>
      <p:pic>
        <p:nvPicPr>
          <p:cNvPr id="9" name="Image 1" descr="preencoded.png">    </p:cNvPr>
          <p:cNvPicPr>
            <a:picLocks noChangeAspect="1"/>
          </p:cNvPicPr>
          <p:nvPr/>
        </p:nvPicPr>
        <p:blipFill>
          <a:blip r:embed="rId3"/>
          <a:stretch>
            <a:fillRect/>
          </a:stretch>
        </p:blipFill>
        <p:spPr>
          <a:xfrm>
            <a:off x="11292840" y="630936"/>
            <a:ext cx="201168" cy="201168"/>
          </a:xfrm>
          <a:prstGeom prst="rect">
            <a:avLst/>
          </a:prstGeom>
        </p:spPr>
      </p:pic>
      <p:sp>
        <p:nvSpPr>
          <p:cNvPr id="10" name="Text 6"/>
          <p:cNvSpPr txBox="1"/>
          <p:nvPr/>
        </p:nvSpPr>
        <p:spPr>
          <a:xfrm>
            <a:off x="8311896" y="548640"/>
            <a:ext cx="2889504" cy="365760"/>
          </a:xfrm>
          <a:prstGeom prst="rect">
            <a:avLst/>
          </a:prstGeom>
          <a:noFill/>
          <a:ln/>
        </p:spPr>
        <p:txBody>
          <a:bodyPr wrap="square" lIns="0" tIns="0" rIns="0" bIns="0" rtlCol="0" anchor="ctr"/>
          <a:lstStyle/>
          <a:p>
            <a:pPr rtl="1" algn="r" indent="0" marL="0">
              <a:buNone/>
            </a:pPr>
            <a:r>
              <a:rPr lang="ar-SA" altLang="en-US" sz="1300" b="1" dirty="0">
                <a:solidFill>
                  <a:srgbClr val="E8D5B5"/>
                </a:solidFill>
                <a:latin typeface="Dubai" pitchFamily="34" charset="0"/>
                <a:ea typeface="Dubai" pitchFamily="34" charset="-122"/>
                <a:cs typeface="Dubai" pitchFamily="34" charset="-120"/>
              </a:rPr>
              <a:t>القصب — تجربة الملح</a:t>
            </a:r>
            <a:endParaRPr lang="ar-SA" sz="1300" dirty="0"/>
          </a:p>
        </p:txBody>
      </p:sp>
      <p:sp>
        <p:nvSpPr>
          <p:cNvPr id="11" name="Text 7"/>
          <p:cNvSpPr txBox="1"/>
          <p:nvPr/>
        </p:nvSpPr>
        <p:spPr>
          <a:xfrm>
            <a:off x="5120640" y="1005840"/>
            <a:ext cx="6519672" cy="1143000"/>
          </a:xfrm>
          <a:prstGeom prst="rect">
            <a:avLst/>
          </a:prstGeom>
          <a:noFill/>
          <a:ln/>
        </p:spPr>
        <p:txBody>
          <a:bodyPr wrap="square" lIns="0" tIns="0" rIns="0" bIns="0" rtlCol="0" anchor="t"/>
          <a:lstStyle/>
          <a:p>
            <a:pPr rtl="1" algn="r" indent="0" marL="0">
              <a:buNone/>
            </a:pPr>
            <a:r>
              <a:rPr lang="ar-SA" altLang="en-US" sz="3600" b="1" dirty="0">
                <a:solidFill>
                  <a:srgbClr val="F3EADB"/>
                </a:solidFill>
                <a:latin typeface="Dubai" pitchFamily="34" charset="0"/>
                <a:ea typeface="Dubai" pitchFamily="34" charset="-122"/>
                <a:cs typeface="Dubai" pitchFamily="34" charset="-120"/>
              </a:rPr>
              <a:t>استرخاء مستوحى من الأرض</a:t>
            </a:r>
            <a:endParaRPr lang="ar-SA" sz="3600" dirty="0"/>
          </a:p>
        </p:txBody>
      </p:sp>
      <p:sp>
        <p:nvSpPr>
          <p:cNvPr id="12" name="Text 8"/>
          <p:cNvSpPr txBox="1"/>
          <p:nvPr/>
        </p:nvSpPr>
        <p:spPr>
          <a:xfrm>
            <a:off x="5120640" y="2194560"/>
            <a:ext cx="6519672"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تجربة تجمع بين الاستجمام والتوعية والاكتشاف؛ يتعرّف الزائر فيها على عالم الملح واستخداماته، ويستكشف منتجات العناية والتنظيف المستوحاة منه، ضمن مساحة تمنحه تجربة مختلفة عن المحطات التقليدية.</a:t>
            </a:r>
            <a:endParaRPr lang="ar-SA" sz="1500" dirty="0"/>
          </a:p>
        </p:txBody>
      </p:sp>
      <p:sp>
        <p:nvSpPr>
          <p:cNvPr id="13" name="Text 9"/>
          <p:cNvSpPr txBox="1"/>
          <p:nvPr/>
        </p:nvSpPr>
        <p:spPr>
          <a:xfrm>
            <a:off x="5120640" y="3493008"/>
            <a:ext cx="6519672" cy="274320"/>
          </a:xfrm>
          <a:prstGeom prst="rect">
            <a:avLst/>
          </a:prstGeom>
          <a:noFill/>
          <a:ln/>
        </p:spPr>
        <p:txBody>
          <a:bodyPr wrap="square" lIns="0" tIns="0" rIns="0" bIns="0" rtlCol="0" anchor="ctr"/>
          <a:lstStyle/>
          <a:p>
            <a:pPr rtl="1" algn="r" indent="0" marL="0">
              <a:buNone/>
            </a:pPr>
            <a:r>
              <a:rPr lang="ar-SA" altLang="en-US" sz="1400" b="1" dirty="0">
                <a:solidFill>
                  <a:srgbClr val="E8D5B5"/>
                </a:solidFill>
                <a:latin typeface="Dubai" pitchFamily="34" charset="0"/>
                <a:ea typeface="Dubai" pitchFamily="34" charset="-122"/>
                <a:cs typeface="Dubai" pitchFamily="34" charset="-120"/>
              </a:rPr>
              <a:t>مكونات التجربة</a:t>
            </a:r>
            <a:endParaRPr lang="ar-SA" sz="1400" dirty="0"/>
          </a:p>
        </p:txBody>
      </p:sp>
      <p:sp>
        <p:nvSpPr>
          <p:cNvPr id="14" name="Shape 10"/>
          <p:cNvSpPr/>
          <p:nvPr/>
        </p:nvSpPr>
        <p:spPr>
          <a:xfrm>
            <a:off x="5120640" y="3858768"/>
            <a:ext cx="6519672" cy="457200"/>
          </a:xfrm>
          <a:prstGeom prst="roundRect">
            <a:avLst>
              <a:gd name="adj" fmla="val 28000"/>
            </a:avLst>
          </a:prstGeom>
          <a:solidFill>
            <a:srgbClr val="3A2A1F"/>
          </a:solidFill>
          <a:ln w="9525">
            <a:solidFill>
              <a:srgbClr val="4D3A2C"/>
            </a:solidFill>
            <a:prstDash val="solid"/>
          </a:ln>
        </p:spPr>
      </p:sp>
      <p:sp>
        <p:nvSpPr>
          <p:cNvPr id="15" name="Shape 11"/>
          <p:cNvSpPr/>
          <p:nvPr/>
        </p:nvSpPr>
        <p:spPr>
          <a:xfrm>
            <a:off x="11164824" y="3904488"/>
            <a:ext cx="365760" cy="365760"/>
          </a:xfrm>
          <a:prstGeom prst="ellipse">
            <a:avLst/>
          </a:prstGeom>
          <a:solidFill>
            <a:srgbClr val="E8D5B5"/>
          </a:solidFill>
          <a:ln/>
        </p:spPr>
      </p:sp>
      <p:pic>
        <p:nvPicPr>
          <p:cNvPr id="16" name="Image 2" descr="preencoded.png">    </p:cNvPr>
          <p:cNvPicPr>
            <a:picLocks noChangeAspect="1"/>
          </p:cNvPicPr>
          <p:nvPr/>
        </p:nvPicPr>
        <p:blipFill>
          <a:blip r:embed="rId4"/>
          <a:stretch>
            <a:fillRect/>
          </a:stretch>
        </p:blipFill>
        <p:spPr>
          <a:xfrm>
            <a:off x="11256264" y="3995928"/>
            <a:ext cx="182880" cy="182880"/>
          </a:xfrm>
          <a:prstGeom prst="rect">
            <a:avLst/>
          </a:prstGeom>
        </p:spPr>
      </p:pic>
      <p:sp>
        <p:nvSpPr>
          <p:cNvPr id="17" name="Text 12"/>
          <p:cNvSpPr txBox="1"/>
          <p:nvPr/>
        </p:nvSpPr>
        <p:spPr>
          <a:xfrm>
            <a:off x="5230368" y="3858768"/>
            <a:ext cx="5824728" cy="45720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منطقة استجمام وعناية مستوحاة من الملح</a:t>
            </a:r>
            <a:endParaRPr lang="ar-SA" sz="1400" dirty="0"/>
          </a:p>
        </p:txBody>
      </p:sp>
      <p:sp>
        <p:nvSpPr>
          <p:cNvPr id="18" name="Shape 13"/>
          <p:cNvSpPr/>
          <p:nvPr/>
        </p:nvSpPr>
        <p:spPr>
          <a:xfrm>
            <a:off x="5120640" y="4389120"/>
            <a:ext cx="6519672" cy="457200"/>
          </a:xfrm>
          <a:prstGeom prst="roundRect">
            <a:avLst>
              <a:gd name="adj" fmla="val 28000"/>
            </a:avLst>
          </a:prstGeom>
          <a:solidFill>
            <a:srgbClr val="3A2A1F"/>
          </a:solidFill>
          <a:ln w="9525">
            <a:solidFill>
              <a:srgbClr val="4D3A2C"/>
            </a:solidFill>
            <a:prstDash val="solid"/>
          </a:ln>
        </p:spPr>
      </p:sp>
      <p:sp>
        <p:nvSpPr>
          <p:cNvPr id="19" name="Shape 14"/>
          <p:cNvSpPr/>
          <p:nvPr/>
        </p:nvSpPr>
        <p:spPr>
          <a:xfrm>
            <a:off x="11164824" y="4434840"/>
            <a:ext cx="365760" cy="365760"/>
          </a:xfrm>
          <a:prstGeom prst="ellipse">
            <a:avLst/>
          </a:prstGeom>
          <a:solidFill>
            <a:srgbClr val="E8D5B5"/>
          </a:solidFill>
          <a:ln/>
        </p:spPr>
      </p:sp>
      <p:pic>
        <p:nvPicPr>
          <p:cNvPr id="20" name="Image 3" descr="preencoded.png">    </p:cNvPr>
          <p:cNvPicPr>
            <a:picLocks noChangeAspect="1"/>
          </p:cNvPicPr>
          <p:nvPr/>
        </p:nvPicPr>
        <p:blipFill>
          <a:blip r:embed="rId5"/>
          <a:stretch>
            <a:fillRect/>
          </a:stretch>
        </p:blipFill>
        <p:spPr>
          <a:xfrm>
            <a:off x="11256264" y="4526280"/>
            <a:ext cx="182880" cy="182880"/>
          </a:xfrm>
          <a:prstGeom prst="rect">
            <a:avLst/>
          </a:prstGeom>
        </p:spPr>
      </p:pic>
      <p:sp>
        <p:nvSpPr>
          <p:cNvPr id="21" name="Text 15"/>
          <p:cNvSpPr txBox="1"/>
          <p:nvPr/>
        </p:nvSpPr>
        <p:spPr>
          <a:xfrm>
            <a:off x="5230368" y="4389120"/>
            <a:ext cx="5824728" cy="45720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مساحة توعوية تعرض مصادر الملح واستخداماته</a:t>
            </a:r>
            <a:endParaRPr lang="ar-SA" sz="1400" dirty="0"/>
          </a:p>
        </p:txBody>
      </p:sp>
      <p:sp>
        <p:nvSpPr>
          <p:cNvPr id="22" name="Shape 16"/>
          <p:cNvSpPr/>
          <p:nvPr/>
        </p:nvSpPr>
        <p:spPr>
          <a:xfrm>
            <a:off x="5120640" y="4919472"/>
            <a:ext cx="6519672" cy="457200"/>
          </a:xfrm>
          <a:prstGeom prst="roundRect">
            <a:avLst>
              <a:gd name="adj" fmla="val 28000"/>
            </a:avLst>
          </a:prstGeom>
          <a:solidFill>
            <a:srgbClr val="3A2A1F"/>
          </a:solidFill>
          <a:ln w="9525">
            <a:solidFill>
              <a:srgbClr val="4D3A2C"/>
            </a:solidFill>
            <a:prstDash val="solid"/>
          </a:ln>
        </p:spPr>
      </p:sp>
      <p:sp>
        <p:nvSpPr>
          <p:cNvPr id="23" name="Shape 17"/>
          <p:cNvSpPr/>
          <p:nvPr/>
        </p:nvSpPr>
        <p:spPr>
          <a:xfrm>
            <a:off x="11164824" y="4965192"/>
            <a:ext cx="365760" cy="365760"/>
          </a:xfrm>
          <a:prstGeom prst="ellipse">
            <a:avLst/>
          </a:prstGeom>
          <a:solidFill>
            <a:srgbClr val="E8D5B5"/>
          </a:solidFill>
          <a:ln/>
        </p:spPr>
      </p:sp>
      <p:pic>
        <p:nvPicPr>
          <p:cNvPr id="24" name="Image 4" descr="preencoded.png">    </p:cNvPr>
          <p:cNvPicPr>
            <a:picLocks noChangeAspect="1"/>
          </p:cNvPicPr>
          <p:nvPr/>
        </p:nvPicPr>
        <p:blipFill>
          <a:blip r:embed="rId6"/>
          <a:stretch>
            <a:fillRect/>
          </a:stretch>
        </p:blipFill>
        <p:spPr>
          <a:xfrm>
            <a:off x="11256264" y="5056632"/>
            <a:ext cx="182880" cy="182880"/>
          </a:xfrm>
          <a:prstGeom prst="rect">
            <a:avLst/>
          </a:prstGeom>
        </p:spPr>
      </p:pic>
      <p:sp>
        <p:nvSpPr>
          <p:cNvPr id="25" name="Text 18"/>
          <p:cNvSpPr txBox="1"/>
          <p:nvPr/>
        </p:nvSpPr>
        <p:spPr>
          <a:xfrm>
            <a:off x="5230368" y="4919472"/>
            <a:ext cx="5824728" cy="45720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ركن لتجربة المنتجات والتعرّف عليها</a:t>
            </a:r>
            <a:endParaRPr lang="ar-SA" sz="1400" dirty="0"/>
          </a:p>
        </p:txBody>
      </p:sp>
      <p:sp>
        <p:nvSpPr>
          <p:cNvPr id="26" name="Shape 19"/>
          <p:cNvSpPr/>
          <p:nvPr/>
        </p:nvSpPr>
        <p:spPr>
          <a:xfrm>
            <a:off x="5120640" y="5449824"/>
            <a:ext cx="6519672" cy="457200"/>
          </a:xfrm>
          <a:prstGeom prst="roundRect">
            <a:avLst>
              <a:gd name="adj" fmla="val 28000"/>
            </a:avLst>
          </a:prstGeom>
          <a:solidFill>
            <a:srgbClr val="3A2A1F"/>
          </a:solidFill>
          <a:ln w="9525">
            <a:solidFill>
              <a:srgbClr val="4D3A2C"/>
            </a:solidFill>
            <a:prstDash val="solid"/>
          </a:ln>
        </p:spPr>
      </p:sp>
      <p:sp>
        <p:nvSpPr>
          <p:cNvPr id="27" name="Shape 20"/>
          <p:cNvSpPr/>
          <p:nvPr/>
        </p:nvSpPr>
        <p:spPr>
          <a:xfrm>
            <a:off x="11164824" y="5495544"/>
            <a:ext cx="365760" cy="365760"/>
          </a:xfrm>
          <a:prstGeom prst="ellipse">
            <a:avLst/>
          </a:prstGeom>
          <a:solidFill>
            <a:srgbClr val="E8D5B5"/>
          </a:solidFill>
          <a:ln/>
        </p:spPr>
      </p:sp>
      <p:pic>
        <p:nvPicPr>
          <p:cNvPr id="28" name="Image 5" descr="preencoded.png">    </p:cNvPr>
          <p:cNvPicPr>
            <a:picLocks noChangeAspect="1"/>
          </p:cNvPicPr>
          <p:nvPr/>
        </p:nvPicPr>
        <p:blipFill>
          <a:blip r:embed="rId7"/>
          <a:stretch>
            <a:fillRect/>
          </a:stretch>
        </p:blipFill>
        <p:spPr>
          <a:xfrm>
            <a:off x="11256264" y="5586984"/>
            <a:ext cx="182880" cy="182880"/>
          </a:xfrm>
          <a:prstGeom prst="rect">
            <a:avLst/>
          </a:prstGeom>
        </p:spPr>
      </p:pic>
      <p:sp>
        <p:nvSpPr>
          <p:cNvPr id="29" name="Text 21"/>
          <p:cNvSpPr txBox="1"/>
          <p:nvPr/>
        </p:nvSpPr>
        <p:spPr>
          <a:xfrm>
            <a:off x="5230368" y="5449824"/>
            <a:ext cx="5824728" cy="45720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متجر لمنتجات الملح والعناية الشخصية والتنظيف</a:t>
            </a:r>
            <a:endParaRPr lang="ar-SA" sz="1400" dirty="0"/>
          </a:p>
        </p:txBody>
      </p:sp>
      <p:sp>
        <p:nvSpPr>
          <p:cNvPr id="30" name="Shape 22"/>
          <p:cNvSpPr/>
          <p:nvPr/>
        </p:nvSpPr>
        <p:spPr>
          <a:xfrm>
            <a:off x="5120640" y="5980176"/>
            <a:ext cx="6519672" cy="457200"/>
          </a:xfrm>
          <a:prstGeom prst="roundRect">
            <a:avLst>
              <a:gd name="adj" fmla="val 28000"/>
            </a:avLst>
          </a:prstGeom>
          <a:solidFill>
            <a:srgbClr val="3A2A1F"/>
          </a:solidFill>
          <a:ln w="9525">
            <a:solidFill>
              <a:srgbClr val="4D3A2C"/>
            </a:solidFill>
            <a:prstDash val="solid"/>
          </a:ln>
        </p:spPr>
      </p:sp>
      <p:sp>
        <p:nvSpPr>
          <p:cNvPr id="31" name="Shape 23"/>
          <p:cNvSpPr/>
          <p:nvPr/>
        </p:nvSpPr>
        <p:spPr>
          <a:xfrm>
            <a:off x="11164824" y="6025896"/>
            <a:ext cx="365760" cy="365760"/>
          </a:xfrm>
          <a:prstGeom prst="ellipse">
            <a:avLst/>
          </a:prstGeom>
          <a:solidFill>
            <a:srgbClr val="E8D5B5"/>
          </a:solidFill>
          <a:ln/>
        </p:spPr>
      </p:sp>
      <p:pic>
        <p:nvPicPr>
          <p:cNvPr id="32" name="Image 6" descr="preencoded.png">    </p:cNvPr>
          <p:cNvPicPr>
            <a:picLocks noChangeAspect="1"/>
          </p:cNvPicPr>
          <p:nvPr/>
        </p:nvPicPr>
        <p:blipFill>
          <a:blip r:embed="rId8"/>
          <a:stretch>
            <a:fillRect/>
          </a:stretch>
        </p:blipFill>
        <p:spPr>
          <a:xfrm>
            <a:off x="11256264" y="6117336"/>
            <a:ext cx="182880" cy="182880"/>
          </a:xfrm>
          <a:prstGeom prst="rect">
            <a:avLst/>
          </a:prstGeom>
        </p:spPr>
      </p:pic>
      <p:sp>
        <p:nvSpPr>
          <p:cNvPr id="33" name="Text 24"/>
          <p:cNvSpPr txBox="1"/>
          <p:nvPr/>
        </p:nvSpPr>
        <p:spPr>
          <a:xfrm>
            <a:off x="5230368" y="5980176"/>
            <a:ext cx="5824728" cy="45720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تجارب حسية وتفاعلية مرتبطة بخامات الملح</a:t>
            </a:r>
            <a:endParaRPr lang="ar-SA" sz="1400" dirty="0"/>
          </a:p>
        </p:txBody>
      </p:sp>
      <p:sp>
        <p:nvSpPr>
          <p:cNvPr id="34" name="Text 25"/>
          <p:cNvSpPr txBox="1"/>
          <p:nvPr/>
        </p:nvSpPr>
        <p:spPr>
          <a:xfrm>
            <a:off x="5120640" y="6446520"/>
            <a:ext cx="6519672" cy="228600"/>
          </a:xfrm>
          <a:prstGeom prst="rect">
            <a:avLst/>
          </a:prstGeom>
          <a:noFill/>
          <a:ln/>
        </p:spPr>
        <p:txBody>
          <a:bodyPr wrap="square" lIns="0" tIns="0" rIns="0" bIns="0" rtlCol="0" anchor="ctr"/>
          <a:lstStyle/>
          <a:p>
            <a:pPr rtl="1" algn="r" indent="0" marL="0">
              <a:buNone/>
            </a:pPr>
            <a:r>
              <a:rPr lang="ar-SA" altLang="en-US" sz="1000" dirty="0">
                <a:solidFill>
                  <a:srgbClr val="CDB79A"/>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280160" y="5029200"/>
            <a:ext cx="3291840" cy="3291840"/>
          </a:xfrm>
          <a:prstGeom prst="ellipse">
            <a:avLst/>
          </a:prstGeom>
          <a:solidFill>
            <a:srgbClr val="A05E3B">
              <a:alpha val="15000"/>
            </a:srgbClr>
          </a:solidFill>
          <a:ln w="12700">
            <a:solidFill>
              <a:srgbClr val="A05E3B">
                <a:alpha val="0"/>
              </a:srgbClr>
            </a:solidFill>
            <a:prstDash val="solid"/>
          </a:ln>
        </p:spPr>
      </p:sp>
      <p:sp>
        <p:nvSpPr>
          <p:cNvPr id="3" name="Shape 1"/>
          <p:cNvSpPr/>
          <p:nvPr/>
        </p:nvSpPr>
        <p:spPr>
          <a:xfrm>
            <a:off x="7434072" y="548640"/>
            <a:ext cx="4206240" cy="5760720"/>
          </a:xfrm>
          <a:prstGeom prst="roundRect">
            <a:avLst>
              <a:gd name="adj" fmla="val 8696"/>
            </a:avLst>
          </a:prstGeom>
          <a:solidFill>
            <a:srgbClr val="E6D6BC"/>
          </a:solidFill>
          <a:ln w="15875">
            <a:solidFill>
              <a:srgbClr val="A68460"/>
            </a:solidFill>
            <a:prstDash val="dash"/>
          </a:ln>
        </p:spPr>
      </p:sp>
      <p:sp>
        <p:nvSpPr>
          <p:cNvPr id="4" name="Shape 2"/>
          <p:cNvSpPr/>
          <p:nvPr/>
        </p:nvSpPr>
        <p:spPr>
          <a:xfrm>
            <a:off x="7598664" y="713232"/>
            <a:ext cx="3877056" cy="5431536"/>
          </a:xfrm>
          <a:prstGeom prst="roundRect">
            <a:avLst>
              <a:gd name="adj" fmla="val 6604"/>
            </a:avLst>
          </a:prstGeom>
          <a:noFill/>
          <a:ln w="9525">
            <a:solidFill>
              <a:srgbClr val="A05E3B">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8759952" y="2057400"/>
            <a:ext cx="1554480" cy="1554480"/>
          </a:xfrm>
          <a:prstGeom prst="rect">
            <a:avLst/>
          </a:prstGeom>
        </p:spPr>
      </p:pic>
      <p:sp>
        <p:nvSpPr>
          <p:cNvPr id="6" name="Text 3"/>
          <p:cNvSpPr txBox="1"/>
          <p:nvPr/>
        </p:nvSpPr>
        <p:spPr>
          <a:xfrm>
            <a:off x="7434072" y="3840480"/>
            <a:ext cx="4206240" cy="365760"/>
          </a:xfrm>
          <a:prstGeom prst="rect">
            <a:avLst/>
          </a:prstGeom>
          <a:noFill/>
          <a:ln/>
        </p:spPr>
        <p:txBody>
          <a:bodyPr wrap="square" lIns="0" tIns="0" rIns="0" bIns="0" rtlCol="0" anchor="ctr"/>
          <a:lstStyle/>
          <a:p>
            <a:pPr rtl="1" algn="ctr" indent="0" marL="0">
              <a:buNone/>
            </a:pPr>
            <a:r>
              <a:rPr lang="ar-SA" altLang="en-US" sz="1800" b="1" dirty="0">
                <a:solidFill>
                  <a:srgbClr val="7A5C44"/>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7434072" y="4251960"/>
            <a:ext cx="4206240" cy="274320"/>
          </a:xfrm>
          <a:prstGeom prst="rect">
            <a:avLst/>
          </a:prstGeom>
          <a:noFill/>
          <a:ln/>
        </p:spPr>
        <p:txBody>
          <a:bodyPr wrap="square" lIns="0" tIns="0" rIns="0" bIns="0" rtlCol="0" anchor="ctr"/>
          <a:lstStyle/>
          <a:p>
            <a:pPr rtl="1" algn="ctr" indent="0" marL="0">
              <a:buNone/>
            </a:pPr>
            <a:r>
              <a:rPr lang="ar-SA" altLang="en-US" sz="1200" dirty="0">
                <a:solidFill>
                  <a:srgbClr val="7A5C44"/>
                </a:solidFill>
                <a:latin typeface="Dubai" pitchFamily="34" charset="0"/>
                <a:ea typeface="Dubai" pitchFamily="34" charset="-122"/>
                <a:cs typeface="Dubai" pitchFamily="34" charset="-120"/>
              </a:rPr>
              <a:t>صورة ٥</a:t>
            </a:r>
            <a:endParaRPr lang="ar-SA" sz="1200" dirty="0"/>
          </a:p>
        </p:txBody>
      </p:sp>
      <p:sp>
        <p:nvSpPr>
          <p:cNvPr id="8" name="Shape 5"/>
          <p:cNvSpPr/>
          <p:nvPr/>
        </p:nvSpPr>
        <p:spPr>
          <a:xfrm>
            <a:off x="3474720" y="548640"/>
            <a:ext cx="3566160" cy="365760"/>
          </a:xfrm>
          <a:prstGeom prst="roundRect">
            <a:avLst>
              <a:gd name="adj" fmla="val 50000"/>
            </a:avLst>
          </a:prstGeom>
          <a:solidFill>
            <a:srgbClr val="A05E3B">
              <a:alpha val="18000"/>
            </a:srgbClr>
          </a:solidFill>
          <a:ln w="9525">
            <a:solidFill>
              <a:srgbClr val="A05E3B"/>
            </a:solidFill>
            <a:prstDash val="solid"/>
          </a:ln>
        </p:spPr>
      </p:sp>
      <p:pic>
        <p:nvPicPr>
          <p:cNvPr id="9" name="Image 1" descr="preencoded.png">    </p:cNvPr>
          <p:cNvPicPr>
            <a:picLocks noChangeAspect="1"/>
          </p:cNvPicPr>
          <p:nvPr/>
        </p:nvPicPr>
        <p:blipFill>
          <a:blip r:embed="rId3"/>
          <a:stretch>
            <a:fillRect/>
          </a:stretch>
        </p:blipFill>
        <p:spPr>
          <a:xfrm>
            <a:off x="6693408" y="630936"/>
            <a:ext cx="201168" cy="201168"/>
          </a:xfrm>
          <a:prstGeom prst="rect">
            <a:avLst/>
          </a:prstGeom>
        </p:spPr>
      </p:pic>
      <p:sp>
        <p:nvSpPr>
          <p:cNvPr id="10" name="Text 6"/>
          <p:cNvSpPr txBox="1"/>
          <p:nvPr/>
        </p:nvSpPr>
        <p:spPr>
          <a:xfrm>
            <a:off x="3584448" y="548640"/>
            <a:ext cx="3017520" cy="365760"/>
          </a:xfrm>
          <a:prstGeom prst="rect">
            <a:avLst/>
          </a:prstGeom>
          <a:noFill/>
          <a:ln/>
        </p:spPr>
        <p:txBody>
          <a:bodyPr wrap="square" lIns="0" tIns="0" rIns="0" bIns="0" rtlCol="0" anchor="ctr"/>
          <a:lstStyle/>
          <a:p>
            <a:pPr rtl="1" algn="r" indent="0" marL="0">
              <a:buNone/>
            </a:pPr>
            <a:r>
              <a:rPr lang="ar-SA" altLang="en-US" sz="1300" b="1" dirty="0">
                <a:solidFill>
                  <a:srgbClr val="A05E3B"/>
                </a:solidFill>
                <a:latin typeface="Dubai" pitchFamily="34" charset="0"/>
                <a:ea typeface="Dubai" pitchFamily="34" charset="-122"/>
                <a:cs typeface="Dubai" pitchFamily="34" charset="-120"/>
              </a:rPr>
              <a:t>شقراء — ذاكرة المكان</a:t>
            </a:r>
            <a:endParaRPr lang="ar-SA" sz="1300" dirty="0"/>
          </a:p>
        </p:txBody>
      </p:sp>
      <p:sp>
        <p:nvSpPr>
          <p:cNvPr id="11" name="Text 7"/>
          <p:cNvSpPr txBox="1"/>
          <p:nvPr/>
        </p:nvSpPr>
        <p:spPr>
          <a:xfrm>
            <a:off x="548640" y="1005840"/>
            <a:ext cx="6492240" cy="1143000"/>
          </a:xfrm>
          <a:prstGeom prst="rect">
            <a:avLst/>
          </a:prstGeom>
          <a:noFill/>
          <a:ln/>
        </p:spPr>
        <p:txBody>
          <a:bodyPr wrap="square" lIns="0" tIns="0" rIns="0" bIns="0" rtlCol="0" anchor="t"/>
          <a:lstStyle/>
          <a:p>
            <a:pPr rtl="1" algn="r" indent="0" marL="0">
              <a:buNone/>
            </a:pPr>
            <a:r>
              <a:rPr lang="ar-SA" altLang="en-US" sz="3600" b="1" dirty="0">
                <a:solidFill>
                  <a:srgbClr val="3B2A1E"/>
                </a:solidFill>
                <a:latin typeface="Dubai" pitchFamily="34" charset="0"/>
                <a:ea typeface="Dubai" pitchFamily="34" charset="-122"/>
                <a:cs typeface="Dubai" pitchFamily="34" charset="-120"/>
              </a:rPr>
              <a:t>تراث حيّ، وتجربة تتجدد</a:t>
            </a:r>
            <a:endParaRPr lang="ar-SA" sz="3600" dirty="0"/>
          </a:p>
        </p:txBody>
      </p:sp>
      <p:sp>
        <p:nvSpPr>
          <p:cNvPr id="12" name="Text 8"/>
          <p:cNvSpPr txBox="1"/>
          <p:nvPr/>
        </p:nvSpPr>
        <p:spPr>
          <a:xfrm>
            <a:off x="548640" y="2194560"/>
            <a:ext cx="6492240"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في قلب شقراء، نعيد تقديم الأسواق التراثية بروح معاصرة، تحافظ على أصالة المكان وتمنحه حياة جديدة، من خلال تحسين تجربة الزائر، والارتقاء بالمشهد العام، وإبراز القصص والمنتجات المحلية.</a:t>
            </a:r>
            <a:endParaRPr lang="ar-SA" sz="1500" dirty="0"/>
          </a:p>
        </p:txBody>
      </p:sp>
      <p:sp>
        <p:nvSpPr>
          <p:cNvPr id="13" name="Text 9"/>
          <p:cNvSpPr txBox="1"/>
          <p:nvPr/>
        </p:nvSpPr>
        <p:spPr>
          <a:xfrm>
            <a:off x="548640" y="3493008"/>
            <a:ext cx="6492240" cy="274320"/>
          </a:xfrm>
          <a:prstGeom prst="rect">
            <a:avLst/>
          </a:prstGeom>
          <a:noFill/>
          <a:ln/>
        </p:spPr>
        <p:txBody>
          <a:bodyPr wrap="square" lIns="0" tIns="0" rIns="0" bIns="0" rtlCol="0" anchor="ctr"/>
          <a:lstStyle/>
          <a:p>
            <a:pPr rtl="1" algn="r" indent="0" marL="0">
              <a:buNone/>
            </a:pPr>
            <a:r>
              <a:rPr lang="ar-SA" altLang="en-US" sz="1400" b="1" dirty="0">
                <a:solidFill>
                  <a:srgbClr val="A05E3B"/>
                </a:solidFill>
                <a:latin typeface="Dubai" pitchFamily="34" charset="0"/>
                <a:ea typeface="Dubai" pitchFamily="34" charset="-122"/>
                <a:cs typeface="Dubai" pitchFamily="34" charset="-120"/>
              </a:rPr>
              <a:t>مكونات التطوير</a:t>
            </a:r>
            <a:endParaRPr lang="ar-SA" sz="1400" dirty="0"/>
          </a:p>
        </p:txBody>
      </p:sp>
      <p:sp>
        <p:nvSpPr>
          <p:cNvPr id="14" name="Shape 10"/>
          <p:cNvSpPr/>
          <p:nvPr/>
        </p:nvSpPr>
        <p:spPr>
          <a:xfrm>
            <a:off x="548640" y="3858768"/>
            <a:ext cx="6492240" cy="457200"/>
          </a:xfrm>
          <a:prstGeom prst="roundRect">
            <a:avLst>
              <a:gd name="adj" fmla="val 28000"/>
            </a:avLst>
          </a:prstGeom>
          <a:solidFill>
            <a:srgbClr val="FBF6EE"/>
          </a:solidFill>
          <a:ln w="9525">
            <a:solidFill>
              <a:srgbClr val="E3D3BA"/>
            </a:solidFill>
            <a:prstDash val="solid"/>
          </a:ln>
        </p:spPr>
      </p:sp>
      <p:sp>
        <p:nvSpPr>
          <p:cNvPr id="15" name="Shape 11"/>
          <p:cNvSpPr/>
          <p:nvPr/>
        </p:nvSpPr>
        <p:spPr>
          <a:xfrm>
            <a:off x="6565392" y="3904488"/>
            <a:ext cx="365760" cy="365760"/>
          </a:xfrm>
          <a:prstGeom prst="ellipse">
            <a:avLst/>
          </a:prstGeom>
          <a:solidFill>
            <a:srgbClr val="A05E3B"/>
          </a:solidFill>
          <a:ln/>
        </p:spPr>
      </p:sp>
      <p:pic>
        <p:nvPicPr>
          <p:cNvPr id="16" name="Image 2" descr="preencoded.png">    </p:cNvPr>
          <p:cNvPicPr>
            <a:picLocks noChangeAspect="1"/>
          </p:cNvPicPr>
          <p:nvPr/>
        </p:nvPicPr>
        <p:blipFill>
          <a:blip r:embed="rId4"/>
          <a:stretch>
            <a:fillRect/>
          </a:stretch>
        </p:blipFill>
        <p:spPr>
          <a:xfrm>
            <a:off x="6656832" y="3995928"/>
            <a:ext cx="182880" cy="182880"/>
          </a:xfrm>
          <a:prstGeom prst="rect">
            <a:avLst/>
          </a:prstGeom>
        </p:spPr>
      </p:pic>
      <p:sp>
        <p:nvSpPr>
          <p:cNvPr id="17" name="Text 12"/>
          <p:cNvSpPr txBox="1"/>
          <p:nvPr/>
        </p:nvSpPr>
        <p:spPr>
          <a:xfrm>
            <a:off x="658368" y="3858768"/>
            <a:ext cx="5797296" cy="45720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تحسين المشهد البصري وتنظيم عناصر السوق</a:t>
            </a:r>
            <a:endParaRPr lang="ar-SA" sz="1400" dirty="0"/>
          </a:p>
        </p:txBody>
      </p:sp>
      <p:sp>
        <p:nvSpPr>
          <p:cNvPr id="18" name="Shape 13"/>
          <p:cNvSpPr/>
          <p:nvPr/>
        </p:nvSpPr>
        <p:spPr>
          <a:xfrm>
            <a:off x="548640" y="4389120"/>
            <a:ext cx="6492240" cy="457200"/>
          </a:xfrm>
          <a:prstGeom prst="roundRect">
            <a:avLst>
              <a:gd name="adj" fmla="val 28000"/>
            </a:avLst>
          </a:prstGeom>
          <a:solidFill>
            <a:srgbClr val="FBF6EE"/>
          </a:solidFill>
          <a:ln w="9525">
            <a:solidFill>
              <a:srgbClr val="E3D3BA"/>
            </a:solidFill>
            <a:prstDash val="solid"/>
          </a:ln>
        </p:spPr>
      </p:sp>
      <p:sp>
        <p:nvSpPr>
          <p:cNvPr id="19" name="Shape 14"/>
          <p:cNvSpPr/>
          <p:nvPr/>
        </p:nvSpPr>
        <p:spPr>
          <a:xfrm>
            <a:off x="6565392" y="4434840"/>
            <a:ext cx="365760" cy="365760"/>
          </a:xfrm>
          <a:prstGeom prst="ellipse">
            <a:avLst/>
          </a:prstGeom>
          <a:solidFill>
            <a:srgbClr val="A05E3B"/>
          </a:solidFill>
          <a:ln/>
        </p:spPr>
      </p:sp>
      <p:pic>
        <p:nvPicPr>
          <p:cNvPr id="20" name="Image 3" descr="preencoded.png">    </p:cNvPr>
          <p:cNvPicPr>
            <a:picLocks noChangeAspect="1"/>
          </p:cNvPicPr>
          <p:nvPr/>
        </p:nvPicPr>
        <p:blipFill>
          <a:blip r:embed="rId5"/>
          <a:stretch>
            <a:fillRect/>
          </a:stretch>
        </p:blipFill>
        <p:spPr>
          <a:xfrm>
            <a:off x="6656832" y="4526280"/>
            <a:ext cx="182880" cy="182880"/>
          </a:xfrm>
          <a:prstGeom prst="rect">
            <a:avLst/>
          </a:prstGeom>
        </p:spPr>
      </p:pic>
      <p:sp>
        <p:nvSpPr>
          <p:cNvPr id="21" name="Text 15"/>
          <p:cNvSpPr txBox="1"/>
          <p:nvPr/>
        </p:nvSpPr>
        <p:spPr>
          <a:xfrm>
            <a:off x="658368" y="4389120"/>
            <a:ext cx="5797296" cy="45720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تطوير اللوحات الإرشادية والهوية البصرية</a:t>
            </a:r>
            <a:endParaRPr lang="ar-SA" sz="1400" dirty="0"/>
          </a:p>
        </p:txBody>
      </p:sp>
      <p:sp>
        <p:nvSpPr>
          <p:cNvPr id="22" name="Shape 16"/>
          <p:cNvSpPr/>
          <p:nvPr/>
        </p:nvSpPr>
        <p:spPr>
          <a:xfrm>
            <a:off x="548640" y="4919472"/>
            <a:ext cx="6492240" cy="457200"/>
          </a:xfrm>
          <a:prstGeom prst="roundRect">
            <a:avLst>
              <a:gd name="adj" fmla="val 28000"/>
            </a:avLst>
          </a:prstGeom>
          <a:solidFill>
            <a:srgbClr val="FBF6EE"/>
          </a:solidFill>
          <a:ln w="9525">
            <a:solidFill>
              <a:srgbClr val="E3D3BA"/>
            </a:solidFill>
            <a:prstDash val="solid"/>
          </a:ln>
        </p:spPr>
      </p:sp>
      <p:sp>
        <p:nvSpPr>
          <p:cNvPr id="23" name="Shape 17"/>
          <p:cNvSpPr/>
          <p:nvPr/>
        </p:nvSpPr>
        <p:spPr>
          <a:xfrm>
            <a:off x="6565392" y="4965192"/>
            <a:ext cx="365760" cy="365760"/>
          </a:xfrm>
          <a:prstGeom prst="ellipse">
            <a:avLst/>
          </a:prstGeom>
          <a:solidFill>
            <a:srgbClr val="A05E3B"/>
          </a:solidFill>
          <a:ln/>
        </p:spPr>
      </p:sp>
      <p:pic>
        <p:nvPicPr>
          <p:cNvPr id="24" name="Image 4" descr="preencoded.png">    </p:cNvPr>
          <p:cNvPicPr>
            <a:picLocks noChangeAspect="1"/>
          </p:cNvPicPr>
          <p:nvPr/>
        </p:nvPicPr>
        <p:blipFill>
          <a:blip r:embed="rId6"/>
          <a:stretch>
            <a:fillRect/>
          </a:stretch>
        </p:blipFill>
        <p:spPr>
          <a:xfrm>
            <a:off x="6656832" y="5056632"/>
            <a:ext cx="182880" cy="182880"/>
          </a:xfrm>
          <a:prstGeom prst="rect">
            <a:avLst/>
          </a:prstGeom>
        </p:spPr>
      </p:pic>
      <p:sp>
        <p:nvSpPr>
          <p:cNvPr id="25" name="Text 18"/>
          <p:cNvSpPr txBox="1"/>
          <p:nvPr/>
        </p:nvSpPr>
        <p:spPr>
          <a:xfrm>
            <a:off x="658368" y="4919472"/>
            <a:ext cx="5797296" cy="45720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فريق ضيافة واستقبال وتوجيه للزوار</a:t>
            </a:r>
            <a:endParaRPr lang="ar-SA" sz="1400" dirty="0"/>
          </a:p>
        </p:txBody>
      </p:sp>
      <p:sp>
        <p:nvSpPr>
          <p:cNvPr id="26" name="Shape 19"/>
          <p:cNvSpPr/>
          <p:nvPr/>
        </p:nvSpPr>
        <p:spPr>
          <a:xfrm>
            <a:off x="548640" y="5449824"/>
            <a:ext cx="6492240" cy="457200"/>
          </a:xfrm>
          <a:prstGeom prst="roundRect">
            <a:avLst>
              <a:gd name="adj" fmla="val 28000"/>
            </a:avLst>
          </a:prstGeom>
          <a:solidFill>
            <a:srgbClr val="FBF6EE"/>
          </a:solidFill>
          <a:ln w="9525">
            <a:solidFill>
              <a:srgbClr val="E3D3BA"/>
            </a:solidFill>
            <a:prstDash val="solid"/>
          </a:ln>
        </p:spPr>
      </p:sp>
      <p:sp>
        <p:nvSpPr>
          <p:cNvPr id="27" name="Shape 20"/>
          <p:cNvSpPr/>
          <p:nvPr/>
        </p:nvSpPr>
        <p:spPr>
          <a:xfrm>
            <a:off x="6565392" y="5495544"/>
            <a:ext cx="365760" cy="365760"/>
          </a:xfrm>
          <a:prstGeom prst="ellipse">
            <a:avLst/>
          </a:prstGeom>
          <a:solidFill>
            <a:srgbClr val="A05E3B"/>
          </a:solidFill>
          <a:ln/>
        </p:spPr>
      </p:sp>
      <p:pic>
        <p:nvPicPr>
          <p:cNvPr id="28" name="Image 5" descr="preencoded.png">    </p:cNvPr>
          <p:cNvPicPr>
            <a:picLocks noChangeAspect="1"/>
          </p:cNvPicPr>
          <p:nvPr/>
        </p:nvPicPr>
        <p:blipFill>
          <a:blip r:embed="rId7"/>
          <a:stretch>
            <a:fillRect/>
          </a:stretch>
        </p:blipFill>
        <p:spPr>
          <a:xfrm>
            <a:off x="6656832" y="5586984"/>
            <a:ext cx="182880" cy="182880"/>
          </a:xfrm>
          <a:prstGeom prst="rect">
            <a:avLst/>
          </a:prstGeom>
        </p:spPr>
      </p:pic>
      <p:sp>
        <p:nvSpPr>
          <p:cNvPr id="29" name="Text 21"/>
          <p:cNvSpPr txBox="1"/>
          <p:nvPr/>
        </p:nvSpPr>
        <p:spPr>
          <a:xfrm>
            <a:off x="658368" y="5449824"/>
            <a:ext cx="5797296" cy="45720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فريق مخصص للنظافة وجودة الموقع</a:t>
            </a:r>
            <a:endParaRPr lang="ar-SA" sz="1400" dirty="0"/>
          </a:p>
        </p:txBody>
      </p:sp>
      <p:sp>
        <p:nvSpPr>
          <p:cNvPr id="30" name="Shape 22"/>
          <p:cNvSpPr/>
          <p:nvPr/>
        </p:nvSpPr>
        <p:spPr>
          <a:xfrm>
            <a:off x="548640" y="5980176"/>
            <a:ext cx="6492240" cy="457200"/>
          </a:xfrm>
          <a:prstGeom prst="roundRect">
            <a:avLst>
              <a:gd name="adj" fmla="val 28000"/>
            </a:avLst>
          </a:prstGeom>
          <a:solidFill>
            <a:srgbClr val="FBF6EE"/>
          </a:solidFill>
          <a:ln w="9525">
            <a:solidFill>
              <a:srgbClr val="E3D3BA"/>
            </a:solidFill>
            <a:prstDash val="solid"/>
          </a:ln>
        </p:spPr>
      </p:sp>
      <p:sp>
        <p:nvSpPr>
          <p:cNvPr id="31" name="Shape 23"/>
          <p:cNvSpPr/>
          <p:nvPr/>
        </p:nvSpPr>
        <p:spPr>
          <a:xfrm>
            <a:off x="6565392" y="6025896"/>
            <a:ext cx="365760" cy="365760"/>
          </a:xfrm>
          <a:prstGeom prst="ellipse">
            <a:avLst/>
          </a:prstGeom>
          <a:solidFill>
            <a:srgbClr val="A05E3B"/>
          </a:solidFill>
          <a:ln/>
        </p:spPr>
      </p:sp>
      <p:pic>
        <p:nvPicPr>
          <p:cNvPr id="32" name="Image 6" descr="preencoded.png">    </p:cNvPr>
          <p:cNvPicPr>
            <a:picLocks noChangeAspect="1"/>
          </p:cNvPicPr>
          <p:nvPr/>
        </p:nvPicPr>
        <p:blipFill>
          <a:blip r:embed="rId8"/>
          <a:stretch>
            <a:fillRect/>
          </a:stretch>
        </p:blipFill>
        <p:spPr>
          <a:xfrm>
            <a:off x="6656832" y="6117336"/>
            <a:ext cx="182880" cy="182880"/>
          </a:xfrm>
          <a:prstGeom prst="rect">
            <a:avLst/>
          </a:prstGeom>
        </p:spPr>
      </p:pic>
      <p:sp>
        <p:nvSpPr>
          <p:cNvPr id="33" name="Text 24"/>
          <p:cNvSpPr txBox="1"/>
          <p:nvPr/>
        </p:nvSpPr>
        <p:spPr>
          <a:xfrm>
            <a:off x="658368" y="5980176"/>
            <a:ext cx="5797296" cy="45720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إبراز الممرات والتفاصيل المعمارية التراثية</a:t>
            </a:r>
            <a:endParaRPr lang="ar-SA" sz="1400" dirty="0"/>
          </a:p>
        </p:txBody>
      </p:sp>
      <p:sp>
        <p:nvSpPr>
          <p:cNvPr id="34" name="Text 25"/>
          <p:cNvSpPr txBox="1"/>
          <p:nvPr/>
        </p:nvSpPr>
        <p:spPr>
          <a:xfrm>
            <a:off x="548640" y="6446520"/>
            <a:ext cx="6492240" cy="228600"/>
          </a:xfrm>
          <a:prstGeom prst="rect">
            <a:avLst/>
          </a:prstGeom>
          <a:noFill/>
          <a:ln/>
        </p:spPr>
        <p:txBody>
          <a:bodyPr wrap="square" lIns="0" tIns="0" rIns="0" bIns="0" rtlCol="0" anchor="ctr"/>
          <a:lstStyle/>
          <a:p>
            <a:pPr rtl="1" algn="r" indent="0" marL="0">
              <a:buNone/>
            </a:pPr>
            <a:r>
              <a:rPr lang="ar-SA" altLang="en-US" sz="1000" dirty="0">
                <a:solidFill>
                  <a:srgbClr val="7A5C44"/>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280160" y="5029200"/>
            <a:ext cx="3291840" cy="3291840"/>
          </a:xfrm>
          <a:prstGeom prst="ellipse">
            <a:avLst/>
          </a:prstGeom>
          <a:solidFill>
            <a:srgbClr val="D49A6A">
              <a:alpha val="12000"/>
            </a:srgbClr>
          </a:solidFill>
          <a:ln w="12700">
            <a:solidFill>
              <a:srgbClr val="D49A6A">
                <a:alpha val="0"/>
              </a:srgbClr>
            </a:solidFill>
            <a:prstDash val="solid"/>
          </a:ln>
        </p:spPr>
      </p:sp>
      <p:sp>
        <p:nvSpPr>
          <p:cNvPr id="3" name="Shape 1"/>
          <p:cNvSpPr/>
          <p:nvPr/>
        </p:nvSpPr>
        <p:spPr>
          <a:xfrm>
            <a:off x="7589520" y="0"/>
            <a:ext cx="5029200" cy="6858000"/>
          </a:xfrm>
          <a:prstGeom prst="roundRect">
            <a:avLst>
              <a:gd name="adj" fmla="val 8182"/>
            </a:avLst>
          </a:prstGeom>
          <a:solidFill>
            <a:srgbClr val="3E2D21"/>
          </a:solidFill>
          <a:ln w="15875">
            <a:solidFill>
              <a:srgbClr val="D49A6A"/>
            </a:solidFill>
            <a:prstDash val="dash"/>
          </a:ln>
        </p:spPr>
      </p:sp>
      <p:sp>
        <p:nvSpPr>
          <p:cNvPr id="4" name="Shape 2"/>
          <p:cNvSpPr/>
          <p:nvPr/>
        </p:nvSpPr>
        <p:spPr>
          <a:xfrm>
            <a:off x="7754112" y="164592"/>
            <a:ext cx="4700016" cy="6528816"/>
          </a:xfrm>
          <a:prstGeom prst="roundRect">
            <a:avLst>
              <a:gd name="adj" fmla="val 6420"/>
            </a:avLst>
          </a:prstGeom>
          <a:noFill/>
          <a:ln w="9525">
            <a:solidFill>
              <a:srgbClr val="D49A6A">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9111996" y="2057400"/>
            <a:ext cx="1554480" cy="1554480"/>
          </a:xfrm>
          <a:prstGeom prst="rect">
            <a:avLst/>
          </a:prstGeom>
        </p:spPr>
      </p:pic>
      <p:sp>
        <p:nvSpPr>
          <p:cNvPr id="6" name="Text 3"/>
          <p:cNvSpPr txBox="1"/>
          <p:nvPr/>
        </p:nvSpPr>
        <p:spPr>
          <a:xfrm>
            <a:off x="7589520" y="3840480"/>
            <a:ext cx="4599432" cy="365760"/>
          </a:xfrm>
          <a:prstGeom prst="rect">
            <a:avLst/>
          </a:prstGeom>
          <a:noFill/>
          <a:ln/>
        </p:spPr>
        <p:txBody>
          <a:bodyPr wrap="square" lIns="0" tIns="0" rIns="0" bIns="0" rtlCol="0" anchor="ctr"/>
          <a:lstStyle/>
          <a:p>
            <a:pPr rtl="1" algn="ctr" indent="0" marL="0">
              <a:buNone/>
            </a:pPr>
            <a:r>
              <a:rPr lang="ar-SA" altLang="en-US" sz="1800" b="1" dirty="0">
                <a:solidFill>
                  <a:srgbClr val="CDB79A"/>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7589520" y="4251960"/>
            <a:ext cx="4599432" cy="274320"/>
          </a:xfrm>
          <a:prstGeom prst="rect">
            <a:avLst/>
          </a:prstGeom>
          <a:noFill/>
          <a:ln/>
        </p:spPr>
        <p:txBody>
          <a:bodyPr wrap="square" lIns="0" tIns="0" rIns="0" bIns="0" rtlCol="0" anchor="ctr"/>
          <a:lstStyle/>
          <a:p>
            <a:pPr rtl="1" algn="ctr" indent="0" marL="0">
              <a:buNone/>
            </a:pPr>
            <a:r>
              <a:rPr lang="ar-SA" altLang="en-US" sz="1200" dirty="0">
                <a:solidFill>
                  <a:srgbClr val="CDB79A"/>
                </a:solidFill>
                <a:latin typeface="Dubai" pitchFamily="34" charset="0"/>
                <a:ea typeface="Dubai" pitchFamily="34" charset="-122"/>
                <a:cs typeface="Dubai" pitchFamily="34" charset="-120"/>
              </a:rPr>
              <a:t>صورة ٦</a:t>
            </a:r>
            <a:endParaRPr lang="ar-SA" sz="1200" dirty="0"/>
          </a:p>
        </p:txBody>
      </p:sp>
      <p:sp>
        <p:nvSpPr>
          <p:cNvPr id="8" name="Shape 5"/>
          <p:cNvSpPr/>
          <p:nvPr/>
        </p:nvSpPr>
        <p:spPr>
          <a:xfrm>
            <a:off x="3602736" y="548640"/>
            <a:ext cx="3438144" cy="365760"/>
          </a:xfrm>
          <a:prstGeom prst="roundRect">
            <a:avLst>
              <a:gd name="adj" fmla="val 50000"/>
            </a:avLst>
          </a:prstGeom>
          <a:solidFill>
            <a:srgbClr val="D49A6A">
              <a:alpha val="25000"/>
            </a:srgbClr>
          </a:solidFill>
          <a:ln w="9525">
            <a:solidFill>
              <a:srgbClr val="D49A6A"/>
            </a:solidFill>
            <a:prstDash val="solid"/>
          </a:ln>
        </p:spPr>
      </p:sp>
      <p:pic>
        <p:nvPicPr>
          <p:cNvPr id="9" name="Image 1" descr="preencoded.png">    </p:cNvPr>
          <p:cNvPicPr>
            <a:picLocks noChangeAspect="1"/>
          </p:cNvPicPr>
          <p:nvPr/>
        </p:nvPicPr>
        <p:blipFill>
          <a:blip r:embed="rId3"/>
          <a:stretch>
            <a:fillRect/>
          </a:stretch>
        </p:blipFill>
        <p:spPr>
          <a:xfrm>
            <a:off x="6693408" y="630936"/>
            <a:ext cx="201168" cy="201168"/>
          </a:xfrm>
          <a:prstGeom prst="rect">
            <a:avLst/>
          </a:prstGeom>
        </p:spPr>
      </p:pic>
      <p:sp>
        <p:nvSpPr>
          <p:cNvPr id="10" name="Text 6"/>
          <p:cNvSpPr txBox="1"/>
          <p:nvPr/>
        </p:nvSpPr>
        <p:spPr>
          <a:xfrm>
            <a:off x="3712464" y="548640"/>
            <a:ext cx="2889504" cy="365760"/>
          </a:xfrm>
          <a:prstGeom prst="rect">
            <a:avLst/>
          </a:prstGeom>
          <a:noFill/>
          <a:ln/>
        </p:spPr>
        <p:txBody>
          <a:bodyPr wrap="square" lIns="0" tIns="0" rIns="0" bIns="0" rtlCol="0" anchor="ctr"/>
          <a:lstStyle/>
          <a:p>
            <a:pPr rtl="1" algn="r" indent="0" marL="0">
              <a:buNone/>
            </a:pPr>
            <a:r>
              <a:rPr lang="ar-SA" altLang="en-US" sz="1300" b="1" dirty="0">
                <a:solidFill>
                  <a:srgbClr val="D49A6A"/>
                </a:solidFill>
                <a:latin typeface="Dubai" pitchFamily="34" charset="0"/>
                <a:ea typeface="Dubai" pitchFamily="34" charset="-122"/>
                <a:cs typeface="Dubai" pitchFamily="34" charset="-120"/>
              </a:rPr>
              <a:t>شقراء — السوق تجربة</a:t>
            </a:r>
            <a:endParaRPr lang="ar-SA" sz="1300" dirty="0"/>
          </a:p>
        </p:txBody>
      </p:sp>
      <p:sp>
        <p:nvSpPr>
          <p:cNvPr id="11" name="Text 7"/>
          <p:cNvSpPr txBox="1"/>
          <p:nvPr/>
        </p:nvSpPr>
        <p:spPr>
          <a:xfrm>
            <a:off x="548640" y="1005840"/>
            <a:ext cx="6492240" cy="1143000"/>
          </a:xfrm>
          <a:prstGeom prst="rect">
            <a:avLst/>
          </a:prstGeom>
          <a:noFill/>
          <a:ln/>
        </p:spPr>
        <p:txBody>
          <a:bodyPr wrap="square" lIns="0" tIns="0" rIns="0" bIns="0" rtlCol="0" anchor="t"/>
          <a:lstStyle/>
          <a:p>
            <a:pPr rtl="1" algn="r" indent="0" marL="0">
              <a:buNone/>
            </a:pPr>
            <a:r>
              <a:rPr lang="ar-SA" altLang="en-US" sz="3600" b="1" dirty="0">
                <a:solidFill>
                  <a:srgbClr val="F3EADB"/>
                </a:solidFill>
                <a:latin typeface="Dubai" pitchFamily="34" charset="0"/>
                <a:ea typeface="Dubai" pitchFamily="34" charset="-122"/>
                <a:cs typeface="Dubai" pitchFamily="34" charset="-120"/>
              </a:rPr>
              <a:t>امشِ في السوق، واكتشف الحكاية</a:t>
            </a:r>
            <a:endParaRPr lang="ar-SA" sz="3600" dirty="0"/>
          </a:p>
        </p:txBody>
      </p:sp>
      <p:sp>
        <p:nvSpPr>
          <p:cNvPr id="12" name="Text 8"/>
          <p:cNvSpPr txBox="1"/>
          <p:nvPr/>
        </p:nvSpPr>
        <p:spPr>
          <a:xfrm>
            <a:off x="548640" y="2194560"/>
            <a:ext cx="6492240"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لا تقتصر التجربة على زيارة السوق؛ بل تمتد إلى اكتشاف تفاصيله، والتفاعل مع أهله، والتعرّف على منتجاته وقصصه. تجربة ضيافة محلية تجعل الزائر جزءًا من المكان، لا مجرد عابر فيه.</a:t>
            </a:r>
            <a:endParaRPr lang="ar-SA" sz="1500" dirty="0"/>
          </a:p>
        </p:txBody>
      </p:sp>
      <p:sp>
        <p:nvSpPr>
          <p:cNvPr id="13" name="Text 9"/>
          <p:cNvSpPr txBox="1"/>
          <p:nvPr/>
        </p:nvSpPr>
        <p:spPr>
          <a:xfrm>
            <a:off x="548640" y="3493008"/>
            <a:ext cx="6492240" cy="274320"/>
          </a:xfrm>
          <a:prstGeom prst="rect">
            <a:avLst/>
          </a:prstGeom>
          <a:noFill/>
          <a:ln/>
        </p:spPr>
        <p:txBody>
          <a:bodyPr wrap="square" lIns="0" tIns="0" rIns="0" bIns="0" rtlCol="0" anchor="ctr"/>
          <a:lstStyle/>
          <a:p>
            <a:pPr rtl="1" algn="r" indent="0" marL="0">
              <a:buNone/>
            </a:pPr>
            <a:r>
              <a:rPr lang="ar-SA" altLang="en-US" sz="1400" b="1" dirty="0">
                <a:solidFill>
                  <a:srgbClr val="D49A6A"/>
                </a:solidFill>
                <a:latin typeface="Dubai" pitchFamily="34" charset="0"/>
                <a:ea typeface="Dubai" pitchFamily="34" charset="-122"/>
                <a:cs typeface="Dubai" pitchFamily="34" charset="-120"/>
              </a:rPr>
              <a:t>التجارب المقترحة</a:t>
            </a:r>
            <a:endParaRPr lang="ar-SA" sz="1400" dirty="0"/>
          </a:p>
        </p:txBody>
      </p:sp>
      <p:sp>
        <p:nvSpPr>
          <p:cNvPr id="14" name="Shape 10"/>
          <p:cNvSpPr/>
          <p:nvPr/>
        </p:nvSpPr>
        <p:spPr>
          <a:xfrm>
            <a:off x="3886200" y="3858768"/>
            <a:ext cx="3154680" cy="548640"/>
          </a:xfrm>
          <a:prstGeom prst="roundRect">
            <a:avLst>
              <a:gd name="adj" fmla="val 23333"/>
            </a:avLst>
          </a:prstGeom>
          <a:solidFill>
            <a:srgbClr val="3A2A1F"/>
          </a:solidFill>
          <a:ln w="9525">
            <a:solidFill>
              <a:srgbClr val="4D3A2C"/>
            </a:solidFill>
            <a:prstDash val="solid"/>
          </a:ln>
        </p:spPr>
      </p:sp>
      <p:sp>
        <p:nvSpPr>
          <p:cNvPr id="15" name="Shape 11"/>
          <p:cNvSpPr/>
          <p:nvPr/>
        </p:nvSpPr>
        <p:spPr>
          <a:xfrm>
            <a:off x="6547104" y="3941064"/>
            <a:ext cx="384048" cy="384048"/>
          </a:xfrm>
          <a:prstGeom prst="ellipse">
            <a:avLst/>
          </a:prstGeom>
          <a:solidFill>
            <a:srgbClr val="D49A6A"/>
          </a:solidFill>
          <a:ln/>
        </p:spPr>
      </p:sp>
      <p:pic>
        <p:nvPicPr>
          <p:cNvPr id="16" name="Image 2" descr="preencoded.png">    </p:cNvPr>
          <p:cNvPicPr>
            <a:picLocks noChangeAspect="1"/>
          </p:cNvPicPr>
          <p:nvPr/>
        </p:nvPicPr>
        <p:blipFill>
          <a:blip r:embed="rId4"/>
          <a:stretch>
            <a:fillRect/>
          </a:stretch>
        </p:blipFill>
        <p:spPr>
          <a:xfrm>
            <a:off x="6643116" y="4037076"/>
            <a:ext cx="192024" cy="192024"/>
          </a:xfrm>
          <a:prstGeom prst="rect">
            <a:avLst/>
          </a:prstGeom>
        </p:spPr>
      </p:pic>
      <p:sp>
        <p:nvSpPr>
          <p:cNvPr id="17" name="Text 12"/>
          <p:cNvSpPr txBox="1"/>
          <p:nvPr/>
        </p:nvSpPr>
        <p:spPr>
          <a:xfrm>
            <a:off x="399592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جولات تعريفية يقودها مضيفون محليون</a:t>
            </a:r>
            <a:endParaRPr lang="ar-SA" sz="1400" dirty="0"/>
          </a:p>
        </p:txBody>
      </p:sp>
      <p:sp>
        <p:nvSpPr>
          <p:cNvPr id="18" name="Shape 13"/>
          <p:cNvSpPr/>
          <p:nvPr/>
        </p:nvSpPr>
        <p:spPr>
          <a:xfrm>
            <a:off x="548640" y="3858768"/>
            <a:ext cx="3154680" cy="548640"/>
          </a:xfrm>
          <a:prstGeom prst="roundRect">
            <a:avLst>
              <a:gd name="adj" fmla="val 23333"/>
            </a:avLst>
          </a:prstGeom>
          <a:solidFill>
            <a:srgbClr val="3A2A1F"/>
          </a:solidFill>
          <a:ln w="9525">
            <a:solidFill>
              <a:srgbClr val="4D3A2C"/>
            </a:solidFill>
            <a:prstDash val="solid"/>
          </a:ln>
        </p:spPr>
      </p:sp>
      <p:sp>
        <p:nvSpPr>
          <p:cNvPr id="19" name="Shape 14"/>
          <p:cNvSpPr/>
          <p:nvPr/>
        </p:nvSpPr>
        <p:spPr>
          <a:xfrm>
            <a:off x="3209544" y="3941064"/>
            <a:ext cx="384048" cy="384048"/>
          </a:xfrm>
          <a:prstGeom prst="ellipse">
            <a:avLst/>
          </a:prstGeom>
          <a:solidFill>
            <a:srgbClr val="D49A6A"/>
          </a:solidFill>
          <a:ln/>
        </p:spPr>
      </p:sp>
      <p:pic>
        <p:nvPicPr>
          <p:cNvPr id="20" name="Image 3" descr="preencoded.png">    </p:cNvPr>
          <p:cNvPicPr>
            <a:picLocks noChangeAspect="1"/>
          </p:cNvPicPr>
          <p:nvPr/>
        </p:nvPicPr>
        <p:blipFill>
          <a:blip r:embed="rId5"/>
          <a:stretch>
            <a:fillRect/>
          </a:stretch>
        </p:blipFill>
        <p:spPr>
          <a:xfrm>
            <a:off x="3305556" y="4037076"/>
            <a:ext cx="192024" cy="192024"/>
          </a:xfrm>
          <a:prstGeom prst="rect">
            <a:avLst/>
          </a:prstGeom>
        </p:spPr>
      </p:pic>
      <p:sp>
        <p:nvSpPr>
          <p:cNvPr id="21" name="Text 15"/>
          <p:cNvSpPr txBox="1"/>
          <p:nvPr/>
        </p:nvSpPr>
        <p:spPr>
          <a:xfrm>
            <a:off x="65836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تجارب للتعرّف على الحرف والمنتجات التقليدية</a:t>
            </a:r>
            <a:endParaRPr lang="ar-SA" sz="1400" dirty="0"/>
          </a:p>
        </p:txBody>
      </p:sp>
      <p:sp>
        <p:nvSpPr>
          <p:cNvPr id="22" name="Shape 16"/>
          <p:cNvSpPr/>
          <p:nvPr/>
        </p:nvSpPr>
        <p:spPr>
          <a:xfrm>
            <a:off x="3886200" y="4480560"/>
            <a:ext cx="3154680" cy="548640"/>
          </a:xfrm>
          <a:prstGeom prst="roundRect">
            <a:avLst>
              <a:gd name="adj" fmla="val 23333"/>
            </a:avLst>
          </a:prstGeom>
          <a:solidFill>
            <a:srgbClr val="3A2A1F"/>
          </a:solidFill>
          <a:ln w="9525">
            <a:solidFill>
              <a:srgbClr val="4D3A2C"/>
            </a:solidFill>
            <a:prstDash val="solid"/>
          </a:ln>
        </p:spPr>
      </p:sp>
      <p:sp>
        <p:nvSpPr>
          <p:cNvPr id="23" name="Shape 17"/>
          <p:cNvSpPr/>
          <p:nvPr/>
        </p:nvSpPr>
        <p:spPr>
          <a:xfrm>
            <a:off x="6547104" y="4562856"/>
            <a:ext cx="384048" cy="384048"/>
          </a:xfrm>
          <a:prstGeom prst="ellipse">
            <a:avLst/>
          </a:prstGeom>
          <a:solidFill>
            <a:srgbClr val="D49A6A"/>
          </a:solidFill>
          <a:ln/>
        </p:spPr>
      </p:sp>
      <p:pic>
        <p:nvPicPr>
          <p:cNvPr id="24" name="Image 4" descr="preencoded.png">    </p:cNvPr>
          <p:cNvPicPr>
            <a:picLocks noChangeAspect="1"/>
          </p:cNvPicPr>
          <p:nvPr/>
        </p:nvPicPr>
        <p:blipFill>
          <a:blip r:embed="rId6"/>
          <a:stretch>
            <a:fillRect/>
          </a:stretch>
        </p:blipFill>
        <p:spPr>
          <a:xfrm>
            <a:off x="6643116" y="4658868"/>
            <a:ext cx="192024" cy="192024"/>
          </a:xfrm>
          <a:prstGeom prst="rect">
            <a:avLst/>
          </a:prstGeom>
        </p:spPr>
      </p:pic>
      <p:sp>
        <p:nvSpPr>
          <p:cNvPr id="25" name="Text 18"/>
          <p:cNvSpPr txBox="1"/>
          <p:nvPr/>
        </p:nvSpPr>
        <p:spPr>
          <a:xfrm>
            <a:off x="399592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أركان للأطعمة والمشروبات المحلية</a:t>
            </a:r>
            <a:endParaRPr lang="ar-SA" sz="1400" dirty="0"/>
          </a:p>
        </p:txBody>
      </p:sp>
      <p:sp>
        <p:nvSpPr>
          <p:cNvPr id="26" name="Shape 19"/>
          <p:cNvSpPr/>
          <p:nvPr/>
        </p:nvSpPr>
        <p:spPr>
          <a:xfrm>
            <a:off x="548640" y="4480560"/>
            <a:ext cx="3154680" cy="548640"/>
          </a:xfrm>
          <a:prstGeom prst="roundRect">
            <a:avLst>
              <a:gd name="adj" fmla="val 23333"/>
            </a:avLst>
          </a:prstGeom>
          <a:solidFill>
            <a:srgbClr val="3A2A1F"/>
          </a:solidFill>
          <a:ln w="9525">
            <a:solidFill>
              <a:srgbClr val="4D3A2C"/>
            </a:solidFill>
            <a:prstDash val="solid"/>
          </a:ln>
        </p:spPr>
      </p:sp>
      <p:sp>
        <p:nvSpPr>
          <p:cNvPr id="27" name="Shape 20"/>
          <p:cNvSpPr/>
          <p:nvPr/>
        </p:nvSpPr>
        <p:spPr>
          <a:xfrm>
            <a:off x="3209544" y="4562856"/>
            <a:ext cx="384048" cy="384048"/>
          </a:xfrm>
          <a:prstGeom prst="ellipse">
            <a:avLst/>
          </a:prstGeom>
          <a:solidFill>
            <a:srgbClr val="D49A6A"/>
          </a:solidFill>
          <a:ln/>
        </p:spPr>
      </p:sp>
      <p:pic>
        <p:nvPicPr>
          <p:cNvPr id="28" name="Image 5" descr="preencoded.png">    </p:cNvPr>
          <p:cNvPicPr>
            <a:picLocks noChangeAspect="1"/>
          </p:cNvPicPr>
          <p:nvPr/>
        </p:nvPicPr>
        <p:blipFill>
          <a:blip r:embed="rId7"/>
          <a:stretch>
            <a:fillRect/>
          </a:stretch>
        </p:blipFill>
        <p:spPr>
          <a:xfrm>
            <a:off x="3305556" y="4658868"/>
            <a:ext cx="192024" cy="192024"/>
          </a:xfrm>
          <a:prstGeom prst="rect">
            <a:avLst/>
          </a:prstGeom>
        </p:spPr>
      </p:pic>
      <p:sp>
        <p:nvSpPr>
          <p:cNvPr id="29" name="Text 21"/>
          <p:cNvSpPr txBox="1"/>
          <p:nvPr/>
        </p:nvSpPr>
        <p:spPr>
          <a:xfrm>
            <a:off x="65836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لقاءات تحكي تاريخ السوق والحياة فيه</a:t>
            </a:r>
            <a:endParaRPr lang="ar-SA" sz="1400" dirty="0"/>
          </a:p>
        </p:txBody>
      </p:sp>
      <p:sp>
        <p:nvSpPr>
          <p:cNvPr id="30" name="Shape 22"/>
          <p:cNvSpPr/>
          <p:nvPr/>
        </p:nvSpPr>
        <p:spPr>
          <a:xfrm>
            <a:off x="3886200" y="5102352"/>
            <a:ext cx="3154680" cy="548640"/>
          </a:xfrm>
          <a:prstGeom prst="roundRect">
            <a:avLst>
              <a:gd name="adj" fmla="val 23333"/>
            </a:avLst>
          </a:prstGeom>
          <a:solidFill>
            <a:srgbClr val="3A2A1F"/>
          </a:solidFill>
          <a:ln w="9525">
            <a:solidFill>
              <a:srgbClr val="4D3A2C"/>
            </a:solidFill>
            <a:prstDash val="solid"/>
          </a:ln>
        </p:spPr>
      </p:sp>
      <p:sp>
        <p:nvSpPr>
          <p:cNvPr id="31" name="Shape 23"/>
          <p:cNvSpPr/>
          <p:nvPr/>
        </p:nvSpPr>
        <p:spPr>
          <a:xfrm>
            <a:off x="6547104" y="5184648"/>
            <a:ext cx="384048" cy="384048"/>
          </a:xfrm>
          <a:prstGeom prst="ellipse">
            <a:avLst/>
          </a:prstGeom>
          <a:solidFill>
            <a:srgbClr val="D49A6A"/>
          </a:solidFill>
          <a:ln/>
        </p:spPr>
      </p:sp>
      <p:pic>
        <p:nvPicPr>
          <p:cNvPr id="32" name="Image 6" descr="preencoded.png">    </p:cNvPr>
          <p:cNvPicPr>
            <a:picLocks noChangeAspect="1"/>
          </p:cNvPicPr>
          <p:nvPr/>
        </p:nvPicPr>
        <p:blipFill>
          <a:blip r:embed="rId8"/>
          <a:stretch>
            <a:fillRect/>
          </a:stretch>
        </p:blipFill>
        <p:spPr>
          <a:xfrm>
            <a:off x="6643116" y="5280660"/>
            <a:ext cx="192024" cy="192024"/>
          </a:xfrm>
          <a:prstGeom prst="rect">
            <a:avLst/>
          </a:prstGeom>
        </p:spPr>
      </p:pic>
      <p:sp>
        <p:nvSpPr>
          <p:cNvPr id="33" name="Text 24"/>
          <p:cNvSpPr txBox="1"/>
          <p:nvPr/>
        </p:nvSpPr>
        <p:spPr>
          <a:xfrm>
            <a:off x="399592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فعاليات موسمية وتجارب تصوير تفاعلية</a:t>
            </a:r>
            <a:endParaRPr lang="ar-SA" sz="1400" dirty="0"/>
          </a:p>
        </p:txBody>
      </p:sp>
      <p:sp>
        <p:nvSpPr>
          <p:cNvPr id="34" name="Shape 25"/>
          <p:cNvSpPr/>
          <p:nvPr/>
        </p:nvSpPr>
        <p:spPr>
          <a:xfrm>
            <a:off x="548640" y="5102352"/>
            <a:ext cx="3154680" cy="548640"/>
          </a:xfrm>
          <a:prstGeom prst="roundRect">
            <a:avLst>
              <a:gd name="adj" fmla="val 23333"/>
            </a:avLst>
          </a:prstGeom>
          <a:solidFill>
            <a:srgbClr val="3A2A1F"/>
          </a:solidFill>
          <a:ln w="9525">
            <a:solidFill>
              <a:srgbClr val="4D3A2C"/>
            </a:solidFill>
            <a:prstDash val="solid"/>
          </a:ln>
        </p:spPr>
      </p:sp>
      <p:sp>
        <p:nvSpPr>
          <p:cNvPr id="35" name="Shape 26"/>
          <p:cNvSpPr/>
          <p:nvPr/>
        </p:nvSpPr>
        <p:spPr>
          <a:xfrm>
            <a:off x="3209544" y="5184648"/>
            <a:ext cx="384048" cy="384048"/>
          </a:xfrm>
          <a:prstGeom prst="ellipse">
            <a:avLst/>
          </a:prstGeom>
          <a:solidFill>
            <a:srgbClr val="D49A6A"/>
          </a:solidFill>
          <a:ln/>
        </p:spPr>
      </p:sp>
      <p:pic>
        <p:nvPicPr>
          <p:cNvPr id="36" name="Image 7" descr="preencoded.png">    </p:cNvPr>
          <p:cNvPicPr>
            <a:picLocks noChangeAspect="1"/>
          </p:cNvPicPr>
          <p:nvPr/>
        </p:nvPicPr>
        <p:blipFill>
          <a:blip r:embed="rId9"/>
          <a:stretch>
            <a:fillRect/>
          </a:stretch>
        </p:blipFill>
        <p:spPr>
          <a:xfrm>
            <a:off x="3305556" y="5280660"/>
            <a:ext cx="192024" cy="192024"/>
          </a:xfrm>
          <a:prstGeom prst="rect">
            <a:avLst/>
          </a:prstGeom>
        </p:spPr>
      </p:pic>
      <p:sp>
        <p:nvSpPr>
          <p:cNvPr id="37" name="Text 27"/>
          <p:cNvSpPr txBox="1"/>
          <p:nvPr/>
        </p:nvSpPr>
        <p:spPr>
          <a:xfrm>
            <a:off x="65836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مسار واضح يربط الأسواق ومناطق التجربة</a:t>
            </a:r>
            <a:endParaRPr lang="ar-SA" sz="1400" dirty="0"/>
          </a:p>
        </p:txBody>
      </p:sp>
      <p:sp>
        <p:nvSpPr>
          <p:cNvPr id="38" name="Text 28"/>
          <p:cNvSpPr txBox="1"/>
          <p:nvPr/>
        </p:nvSpPr>
        <p:spPr>
          <a:xfrm>
            <a:off x="548640" y="6446520"/>
            <a:ext cx="6492240" cy="228600"/>
          </a:xfrm>
          <a:prstGeom prst="rect">
            <a:avLst/>
          </a:prstGeom>
          <a:noFill/>
          <a:ln/>
        </p:spPr>
        <p:txBody>
          <a:bodyPr wrap="square" lIns="0" tIns="0" rIns="0" bIns="0" rtlCol="0" anchor="ctr"/>
          <a:lstStyle/>
          <a:p>
            <a:pPr rtl="1" algn="r" indent="0" marL="0">
              <a:buNone/>
            </a:pPr>
            <a:r>
              <a:rPr lang="ar-SA" altLang="en-US" sz="1000" dirty="0">
                <a:solidFill>
                  <a:srgbClr val="CDB79A"/>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58400" y="5029200"/>
            <a:ext cx="3291840" cy="3291840"/>
          </a:xfrm>
          <a:prstGeom prst="ellipse">
            <a:avLst/>
          </a:prstGeom>
          <a:solidFill>
            <a:srgbClr val="8A6A24">
              <a:alpha val="15000"/>
            </a:srgbClr>
          </a:solidFill>
          <a:ln w="12700">
            <a:solidFill>
              <a:srgbClr val="8A6A24">
                <a:alpha val="0"/>
              </a:srgbClr>
            </a:solidFill>
            <a:prstDash val="solid"/>
          </a:ln>
        </p:spPr>
      </p:sp>
      <p:sp>
        <p:nvSpPr>
          <p:cNvPr id="3" name="Shape 1"/>
          <p:cNvSpPr/>
          <p:nvPr/>
        </p:nvSpPr>
        <p:spPr>
          <a:xfrm>
            <a:off x="548640" y="548640"/>
            <a:ext cx="4206240" cy="5760720"/>
          </a:xfrm>
          <a:prstGeom prst="roundRect">
            <a:avLst>
              <a:gd name="adj" fmla="val 8696"/>
            </a:avLst>
          </a:prstGeom>
          <a:solidFill>
            <a:srgbClr val="E6D6BC"/>
          </a:solidFill>
          <a:ln w="15875">
            <a:solidFill>
              <a:srgbClr val="A68460"/>
            </a:solidFill>
            <a:prstDash val="dash"/>
          </a:ln>
        </p:spPr>
      </p:sp>
      <p:sp>
        <p:nvSpPr>
          <p:cNvPr id="4" name="Shape 2"/>
          <p:cNvSpPr/>
          <p:nvPr/>
        </p:nvSpPr>
        <p:spPr>
          <a:xfrm>
            <a:off x="713232" y="713232"/>
            <a:ext cx="3877056" cy="5431536"/>
          </a:xfrm>
          <a:prstGeom prst="roundRect">
            <a:avLst>
              <a:gd name="adj" fmla="val 6604"/>
            </a:avLst>
          </a:prstGeom>
          <a:noFill/>
          <a:ln w="9525">
            <a:solidFill>
              <a:srgbClr val="8A6A24">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1874520" y="2057400"/>
            <a:ext cx="1554480" cy="1554480"/>
          </a:xfrm>
          <a:prstGeom prst="rect">
            <a:avLst/>
          </a:prstGeom>
        </p:spPr>
      </p:pic>
      <p:sp>
        <p:nvSpPr>
          <p:cNvPr id="6" name="Text 3"/>
          <p:cNvSpPr txBox="1"/>
          <p:nvPr/>
        </p:nvSpPr>
        <p:spPr>
          <a:xfrm>
            <a:off x="548640" y="3840480"/>
            <a:ext cx="4206240" cy="365760"/>
          </a:xfrm>
          <a:prstGeom prst="rect">
            <a:avLst/>
          </a:prstGeom>
          <a:noFill/>
          <a:ln/>
        </p:spPr>
        <p:txBody>
          <a:bodyPr wrap="square" lIns="0" tIns="0" rIns="0" bIns="0" rtlCol="0" anchor="ctr"/>
          <a:lstStyle/>
          <a:p>
            <a:pPr rtl="1" algn="ctr" indent="0" marL="0">
              <a:buNone/>
            </a:pPr>
            <a:r>
              <a:rPr lang="ar-SA" altLang="en-US" sz="1800" b="1" dirty="0">
                <a:solidFill>
                  <a:srgbClr val="7A5C44"/>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548640" y="4251960"/>
            <a:ext cx="4206240" cy="274320"/>
          </a:xfrm>
          <a:prstGeom prst="rect">
            <a:avLst/>
          </a:prstGeom>
          <a:noFill/>
          <a:ln/>
        </p:spPr>
        <p:txBody>
          <a:bodyPr wrap="square" lIns="0" tIns="0" rIns="0" bIns="0" rtlCol="0" anchor="ctr"/>
          <a:lstStyle/>
          <a:p>
            <a:pPr rtl="1" algn="ctr" indent="0" marL="0">
              <a:buNone/>
            </a:pPr>
            <a:r>
              <a:rPr lang="ar-SA" altLang="en-US" sz="1200" dirty="0">
                <a:solidFill>
                  <a:srgbClr val="7A5C44"/>
                </a:solidFill>
                <a:latin typeface="Dubai" pitchFamily="34" charset="0"/>
                <a:ea typeface="Dubai" pitchFamily="34" charset="-122"/>
                <a:cs typeface="Dubai" pitchFamily="34" charset="-120"/>
              </a:rPr>
              <a:t>صورة ٧</a:t>
            </a:r>
            <a:endParaRPr lang="ar-SA" sz="1200" dirty="0"/>
          </a:p>
        </p:txBody>
      </p:sp>
      <p:sp>
        <p:nvSpPr>
          <p:cNvPr id="8" name="Shape 5"/>
          <p:cNvSpPr/>
          <p:nvPr/>
        </p:nvSpPr>
        <p:spPr>
          <a:xfrm>
            <a:off x="7690104" y="548640"/>
            <a:ext cx="3950208" cy="365760"/>
          </a:xfrm>
          <a:prstGeom prst="roundRect">
            <a:avLst>
              <a:gd name="adj" fmla="val 50000"/>
            </a:avLst>
          </a:prstGeom>
          <a:solidFill>
            <a:srgbClr val="8A6A24">
              <a:alpha val="18000"/>
            </a:srgbClr>
          </a:solidFill>
          <a:ln w="9525">
            <a:solidFill>
              <a:srgbClr val="8A6A24"/>
            </a:solidFill>
            <a:prstDash val="solid"/>
          </a:ln>
        </p:spPr>
      </p:sp>
      <p:pic>
        <p:nvPicPr>
          <p:cNvPr id="9" name="Image 1" descr="preencoded.png">    </p:cNvPr>
          <p:cNvPicPr>
            <a:picLocks noChangeAspect="1"/>
          </p:cNvPicPr>
          <p:nvPr/>
        </p:nvPicPr>
        <p:blipFill>
          <a:blip r:embed="rId3"/>
          <a:stretch>
            <a:fillRect/>
          </a:stretch>
        </p:blipFill>
        <p:spPr>
          <a:xfrm>
            <a:off x="11292840" y="630936"/>
            <a:ext cx="201168" cy="201168"/>
          </a:xfrm>
          <a:prstGeom prst="rect">
            <a:avLst/>
          </a:prstGeom>
        </p:spPr>
      </p:pic>
      <p:sp>
        <p:nvSpPr>
          <p:cNvPr id="10" name="Text 6"/>
          <p:cNvSpPr txBox="1"/>
          <p:nvPr/>
        </p:nvSpPr>
        <p:spPr>
          <a:xfrm>
            <a:off x="7799832" y="548640"/>
            <a:ext cx="3401568" cy="365760"/>
          </a:xfrm>
          <a:prstGeom prst="rect">
            <a:avLst/>
          </a:prstGeom>
          <a:noFill/>
          <a:ln/>
        </p:spPr>
        <p:txBody>
          <a:bodyPr wrap="square" lIns="0" tIns="0" rIns="0" bIns="0" rtlCol="0" anchor="ctr"/>
          <a:lstStyle/>
          <a:p>
            <a:pPr rtl="1" algn="r" indent="0" marL="0">
              <a:buNone/>
            </a:pPr>
            <a:r>
              <a:rPr lang="ar-SA" altLang="en-US" sz="1300" b="1" dirty="0">
                <a:solidFill>
                  <a:srgbClr val="8A6A24"/>
                </a:solidFill>
                <a:latin typeface="Dubai" pitchFamily="34" charset="0"/>
                <a:ea typeface="Dubai" pitchFamily="34" charset="-122"/>
                <a:cs typeface="Dubai" pitchFamily="34" charset="-120"/>
              </a:rPr>
              <a:t>مزارع الجو — بين النخيل</a:t>
            </a:r>
            <a:endParaRPr lang="ar-SA" sz="1300" dirty="0"/>
          </a:p>
        </p:txBody>
      </p:sp>
      <p:sp>
        <p:nvSpPr>
          <p:cNvPr id="11" name="Text 7"/>
          <p:cNvSpPr txBox="1"/>
          <p:nvPr/>
        </p:nvSpPr>
        <p:spPr>
          <a:xfrm>
            <a:off x="5120640" y="1005840"/>
            <a:ext cx="6519672" cy="1143000"/>
          </a:xfrm>
          <a:prstGeom prst="rect">
            <a:avLst/>
          </a:prstGeom>
          <a:noFill/>
          <a:ln/>
        </p:spPr>
        <p:txBody>
          <a:bodyPr wrap="square" lIns="0" tIns="0" rIns="0" bIns="0" rtlCol="0" anchor="t"/>
          <a:lstStyle/>
          <a:p>
            <a:pPr rtl="1" algn="r" indent="0" marL="0">
              <a:buNone/>
            </a:pPr>
            <a:r>
              <a:rPr lang="ar-SA" altLang="en-US" sz="3600" b="1" dirty="0">
                <a:solidFill>
                  <a:srgbClr val="3B2A1E"/>
                </a:solidFill>
                <a:latin typeface="Dubai" pitchFamily="34" charset="0"/>
                <a:ea typeface="Dubai" pitchFamily="34" charset="-122"/>
                <a:cs typeface="Dubai" pitchFamily="34" charset="-120"/>
              </a:rPr>
              <a:t>اترك الطريق، وعِش التجربة</a:t>
            </a:r>
            <a:endParaRPr lang="ar-SA" sz="3600" dirty="0"/>
          </a:p>
        </p:txBody>
      </p:sp>
      <p:sp>
        <p:nvSpPr>
          <p:cNvPr id="12" name="Text 8"/>
          <p:cNvSpPr txBox="1"/>
          <p:nvPr/>
        </p:nvSpPr>
        <p:spPr>
          <a:xfrm>
            <a:off x="5120640" y="2194560"/>
            <a:ext cx="6519672"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وسط امتداد النخيل في مزارع الجو بالمجمعة، تنطلق وجهة تجمع بين الطبيعة والضيافة والمغامرة. محطة تمنح الزائر فرصة للاستراحة، والاستمتاع بالمشهد الزراعي، واكتشاف المنتجات المحلية قبل الانطلاق في تجربة بين النخيل.</a:t>
            </a:r>
            <a:endParaRPr lang="ar-SA" sz="1500" dirty="0"/>
          </a:p>
        </p:txBody>
      </p:sp>
      <p:sp>
        <p:nvSpPr>
          <p:cNvPr id="13" name="Text 9"/>
          <p:cNvSpPr txBox="1"/>
          <p:nvPr/>
        </p:nvSpPr>
        <p:spPr>
          <a:xfrm>
            <a:off x="5120640" y="3493008"/>
            <a:ext cx="6519672" cy="274320"/>
          </a:xfrm>
          <a:prstGeom prst="rect">
            <a:avLst/>
          </a:prstGeom>
          <a:noFill/>
          <a:ln/>
        </p:spPr>
        <p:txBody>
          <a:bodyPr wrap="square" lIns="0" tIns="0" rIns="0" bIns="0" rtlCol="0" anchor="ctr"/>
          <a:lstStyle/>
          <a:p>
            <a:pPr rtl="1" algn="r" indent="0" marL="0">
              <a:buNone/>
            </a:pPr>
            <a:r>
              <a:rPr lang="ar-SA" altLang="en-US" sz="1400" b="1" dirty="0">
                <a:solidFill>
                  <a:srgbClr val="8A6A24"/>
                </a:solidFill>
                <a:latin typeface="Dubai" pitchFamily="34" charset="0"/>
                <a:ea typeface="Dubai" pitchFamily="34" charset="-122"/>
                <a:cs typeface="Dubai" pitchFamily="34" charset="-120"/>
              </a:rPr>
              <a:t>مكونات الوجهة</a:t>
            </a:r>
            <a:endParaRPr lang="ar-SA" sz="1400" dirty="0"/>
          </a:p>
        </p:txBody>
      </p:sp>
      <p:sp>
        <p:nvSpPr>
          <p:cNvPr id="14" name="Shape 10"/>
          <p:cNvSpPr/>
          <p:nvPr/>
        </p:nvSpPr>
        <p:spPr>
          <a:xfrm>
            <a:off x="8471916" y="3858768"/>
            <a:ext cx="3168396" cy="548640"/>
          </a:xfrm>
          <a:prstGeom prst="roundRect">
            <a:avLst>
              <a:gd name="adj" fmla="val 23333"/>
            </a:avLst>
          </a:prstGeom>
          <a:solidFill>
            <a:srgbClr val="FBF6EE"/>
          </a:solidFill>
          <a:ln w="9525">
            <a:solidFill>
              <a:srgbClr val="E3D3BA"/>
            </a:solidFill>
            <a:prstDash val="solid"/>
          </a:ln>
        </p:spPr>
      </p:sp>
      <p:sp>
        <p:nvSpPr>
          <p:cNvPr id="15" name="Shape 11"/>
          <p:cNvSpPr/>
          <p:nvPr/>
        </p:nvSpPr>
        <p:spPr>
          <a:xfrm>
            <a:off x="11146536" y="3941064"/>
            <a:ext cx="384048" cy="384048"/>
          </a:xfrm>
          <a:prstGeom prst="ellipse">
            <a:avLst/>
          </a:prstGeom>
          <a:solidFill>
            <a:srgbClr val="8A6A24"/>
          </a:solidFill>
          <a:ln/>
        </p:spPr>
      </p:sp>
      <p:pic>
        <p:nvPicPr>
          <p:cNvPr id="16" name="Image 2" descr="preencoded.png">    </p:cNvPr>
          <p:cNvPicPr>
            <a:picLocks noChangeAspect="1"/>
          </p:cNvPicPr>
          <p:nvPr/>
        </p:nvPicPr>
        <p:blipFill>
          <a:blip r:embed="rId4"/>
          <a:stretch>
            <a:fillRect/>
          </a:stretch>
        </p:blipFill>
        <p:spPr>
          <a:xfrm>
            <a:off x="11242548" y="4037076"/>
            <a:ext cx="192024" cy="192024"/>
          </a:xfrm>
          <a:prstGeom prst="rect">
            <a:avLst/>
          </a:prstGeom>
        </p:spPr>
      </p:pic>
      <p:sp>
        <p:nvSpPr>
          <p:cNvPr id="17" name="Text 12"/>
          <p:cNvSpPr txBox="1"/>
          <p:nvPr/>
        </p:nvSpPr>
        <p:spPr>
          <a:xfrm>
            <a:off x="8581644"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هب رئيسي لاستقبال الزوار وتوجيههم</a:t>
            </a:r>
            <a:endParaRPr lang="ar-SA" sz="1400" dirty="0"/>
          </a:p>
        </p:txBody>
      </p:sp>
      <p:sp>
        <p:nvSpPr>
          <p:cNvPr id="18" name="Shape 13"/>
          <p:cNvSpPr/>
          <p:nvPr/>
        </p:nvSpPr>
        <p:spPr>
          <a:xfrm>
            <a:off x="5120640" y="3858768"/>
            <a:ext cx="3168396" cy="548640"/>
          </a:xfrm>
          <a:prstGeom prst="roundRect">
            <a:avLst>
              <a:gd name="adj" fmla="val 23333"/>
            </a:avLst>
          </a:prstGeom>
          <a:solidFill>
            <a:srgbClr val="FBF6EE"/>
          </a:solidFill>
          <a:ln w="9525">
            <a:solidFill>
              <a:srgbClr val="E3D3BA"/>
            </a:solidFill>
            <a:prstDash val="solid"/>
          </a:ln>
        </p:spPr>
      </p:sp>
      <p:sp>
        <p:nvSpPr>
          <p:cNvPr id="19" name="Shape 14"/>
          <p:cNvSpPr/>
          <p:nvPr/>
        </p:nvSpPr>
        <p:spPr>
          <a:xfrm>
            <a:off x="7795260" y="3941064"/>
            <a:ext cx="384048" cy="384048"/>
          </a:xfrm>
          <a:prstGeom prst="ellipse">
            <a:avLst/>
          </a:prstGeom>
          <a:solidFill>
            <a:srgbClr val="8A6A24"/>
          </a:solidFill>
          <a:ln/>
        </p:spPr>
      </p:sp>
      <p:pic>
        <p:nvPicPr>
          <p:cNvPr id="20" name="Image 3" descr="preencoded.png">    </p:cNvPr>
          <p:cNvPicPr>
            <a:picLocks noChangeAspect="1"/>
          </p:cNvPicPr>
          <p:nvPr/>
        </p:nvPicPr>
        <p:blipFill>
          <a:blip r:embed="rId5"/>
          <a:stretch>
            <a:fillRect/>
          </a:stretch>
        </p:blipFill>
        <p:spPr>
          <a:xfrm>
            <a:off x="7891272" y="4037076"/>
            <a:ext cx="192024" cy="192024"/>
          </a:xfrm>
          <a:prstGeom prst="rect">
            <a:avLst/>
          </a:prstGeom>
        </p:spPr>
      </p:pic>
      <p:sp>
        <p:nvSpPr>
          <p:cNvPr id="21" name="Text 15"/>
          <p:cNvSpPr txBox="1"/>
          <p:nvPr/>
        </p:nvSpPr>
        <p:spPr>
          <a:xfrm>
            <a:off x="5230368"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منطقة للأطعمة والمشروبات والضيافة</a:t>
            </a:r>
            <a:endParaRPr lang="ar-SA" sz="1400" dirty="0"/>
          </a:p>
        </p:txBody>
      </p:sp>
      <p:sp>
        <p:nvSpPr>
          <p:cNvPr id="22" name="Shape 16"/>
          <p:cNvSpPr/>
          <p:nvPr/>
        </p:nvSpPr>
        <p:spPr>
          <a:xfrm>
            <a:off x="8471916" y="4480560"/>
            <a:ext cx="3168396" cy="548640"/>
          </a:xfrm>
          <a:prstGeom prst="roundRect">
            <a:avLst>
              <a:gd name="adj" fmla="val 23333"/>
            </a:avLst>
          </a:prstGeom>
          <a:solidFill>
            <a:srgbClr val="FBF6EE"/>
          </a:solidFill>
          <a:ln w="9525">
            <a:solidFill>
              <a:srgbClr val="E3D3BA"/>
            </a:solidFill>
            <a:prstDash val="solid"/>
          </a:ln>
        </p:spPr>
      </p:sp>
      <p:sp>
        <p:nvSpPr>
          <p:cNvPr id="23" name="Shape 17"/>
          <p:cNvSpPr/>
          <p:nvPr/>
        </p:nvSpPr>
        <p:spPr>
          <a:xfrm>
            <a:off x="11146536" y="4562856"/>
            <a:ext cx="384048" cy="384048"/>
          </a:xfrm>
          <a:prstGeom prst="ellipse">
            <a:avLst/>
          </a:prstGeom>
          <a:solidFill>
            <a:srgbClr val="8A6A24"/>
          </a:solidFill>
          <a:ln/>
        </p:spPr>
      </p:sp>
      <p:pic>
        <p:nvPicPr>
          <p:cNvPr id="24" name="Image 4" descr="preencoded.png">    </p:cNvPr>
          <p:cNvPicPr>
            <a:picLocks noChangeAspect="1"/>
          </p:cNvPicPr>
          <p:nvPr/>
        </p:nvPicPr>
        <p:blipFill>
          <a:blip r:embed="rId6"/>
          <a:stretch>
            <a:fillRect/>
          </a:stretch>
        </p:blipFill>
        <p:spPr>
          <a:xfrm>
            <a:off x="11242548" y="4658868"/>
            <a:ext cx="192024" cy="192024"/>
          </a:xfrm>
          <a:prstGeom prst="rect">
            <a:avLst/>
          </a:prstGeom>
        </p:spPr>
      </p:pic>
      <p:sp>
        <p:nvSpPr>
          <p:cNvPr id="25" name="Text 18"/>
          <p:cNvSpPr txBox="1"/>
          <p:nvPr/>
        </p:nvSpPr>
        <p:spPr>
          <a:xfrm>
            <a:off x="8581644"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سوق صغير للمنتجات المحلية والحرف</a:t>
            </a:r>
            <a:endParaRPr lang="ar-SA" sz="1400" dirty="0"/>
          </a:p>
        </p:txBody>
      </p:sp>
      <p:sp>
        <p:nvSpPr>
          <p:cNvPr id="26" name="Shape 19"/>
          <p:cNvSpPr/>
          <p:nvPr/>
        </p:nvSpPr>
        <p:spPr>
          <a:xfrm>
            <a:off x="5120640" y="4480560"/>
            <a:ext cx="3168396" cy="548640"/>
          </a:xfrm>
          <a:prstGeom prst="roundRect">
            <a:avLst>
              <a:gd name="adj" fmla="val 23333"/>
            </a:avLst>
          </a:prstGeom>
          <a:solidFill>
            <a:srgbClr val="FBF6EE"/>
          </a:solidFill>
          <a:ln w="9525">
            <a:solidFill>
              <a:srgbClr val="E3D3BA"/>
            </a:solidFill>
            <a:prstDash val="solid"/>
          </a:ln>
        </p:spPr>
      </p:sp>
      <p:sp>
        <p:nvSpPr>
          <p:cNvPr id="27" name="Shape 20"/>
          <p:cNvSpPr/>
          <p:nvPr/>
        </p:nvSpPr>
        <p:spPr>
          <a:xfrm>
            <a:off x="7795260" y="4562856"/>
            <a:ext cx="384048" cy="384048"/>
          </a:xfrm>
          <a:prstGeom prst="ellipse">
            <a:avLst/>
          </a:prstGeom>
          <a:solidFill>
            <a:srgbClr val="8A6A24"/>
          </a:solidFill>
          <a:ln/>
        </p:spPr>
      </p:sp>
      <p:pic>
        <p:nvPicPr>
          <p:cNvPr id="28" name="Image 5" descr="preencoded.png">    </p:cNvPr>
          <p:cNvPicPr>
            <a:picLocks noChangeAspect="1"/>
          </p:cNvPicPr>
          <p:nvPr/>
        </p:nvPicPr>
        <p:blipFill>
          <a:blip r:embed="rId7"/>
          <a:stretch>
            <a:fillRect/>
          </a:stretch>
        </p:blipFill>
        <p:spPr>
          <a:xfrm>
            <a:off x="7891272" y="4658868"/>
            <a:ext cx="192024" cy="192024"/>
          </a:xfrm>
          <a:prstGeom prst="rect">
            <a:avLst/>
          </a:prstGeom>
        </p:spPr>
      </p:pic>
      <p:sp>
        <p:nvSpPr>
          <p:cNvPr id="29" name="Text 21"/>
          <p:cNvSpPr txBox="1"/>
          <p:nvPr/>
        </p:nvSpPr>
        <p:spPr>
          <a:xfrm>
            <a:off x="5230368"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منطقة تصوير بإطلالات على النخيل</a:t>
            </a:r>
            <a:endParaRPr lang="ar-SA" sz="1400" dirty="0"/>
          </a:p>
        </p:txBody>
      </p:sp>
      <p:sp>
        <p:nvSpPr>
          <p:cNvPr id="30" name="Shape 22"/>
          <p:cNvSpPr/>
          <p:nvPr/>
        </p:nvSpPr>
        <p:spPr>
          <a:xfrm>
            <a:off x="8471916" y="5102352"/>
            <a:ext cx="3168396" cy="548640"/>
          </a:xfrm>
          <a:prstGeom prst="roundRect">
            <a:avLst>
              <a:gd name="adj" fmla="val 23333"/>
            </a:avLst>
          </a:prstGeom>
          <a:solidFill>
            <a:srgbClr val="FBF6EE"/>
          </a:solidFill>
          <a:ln w="9525">
            <a:solidFill>
              <a:srgbClr val="E3D3BA"/>
            </a:solidFill>
            <a:prstDash val="solid"/>
          </a:ln>
        </p:spPr>
      </p:sp>
      <p:sp>
        <p:nvSpPr>
          <p:cNvPr id="31" name="Shape 23"/>
          <p:cNvSpPr/>
          <p:nvPr/>
        </p:nvSpPr>
        <p:spPr>
          <a:xfrm>
            <a:off x="11146536" y="5184648"/>
            <a:ext cx="384048" cy="384048"/>
          </a:xfrm>
          <a:prstGeom prst="ellipse">
            <a:avLst/>
          </a:prstGeom>
          <a:solidFill>
            <a:srgbClr val="8A6A24"/>
          </a:solidFill>
          <a:ln/>
        </p:spPr>
      </p:sp>
      <p:pic>
        <p:nvPicPr>
          <p:cNvPr id="32" name="Image 6" descr="preencoded.png">    </p:cNvPr>
          <p:cNvPicPr>
            <a:picLocks noChangeAspect="1"/>
          </p:cNvPicPr>
          <p:nvPr/>
        </p:nvPicPr>
        <p:blipFill>
          <a:blip r:embed="rId8"/>
          <a:stretch>
            <a:fillRect/>
          </a:stretch>
        </p:blipFill>
        <p:spPr>
          <a:xfrm>
            <a:off x="11242548" y="5280660"/>
            <a:ext cx="192024" cy="192024"/>
          </a:xfrm>
          <a:prstGeom prst="rect">
            <a:avLst/>
          </a:prstGeom>
        </p:spPr>
      </p:pic>
      <p:sp>
        <p:nvSpPr>
          <p:cNvPr id="33" name="Text 24"/>
          <p:cNvSpPr txBox="1"/>
          <p:nvPr/>
        </p:nvSpPr>
        <p:spPr>
          <a:xfrm>
            <a:off x="8581644"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جلسات خارجية ومساحات للاسترخاء</a:t>
            </a:r>
            <a:endParaRPr lang="ar-SA" sz="1400" dirty="0"/>
          </a:p>
        </p:txBody>
      </p:sp>
      <p:sp>
        <p:nvSpPr>
          <p:cNvPr id="34" name="Shape 25"/>
          <p:cNvSpPr/>
          <p:nvPr/>
        </p:nvSpPr>
        <p:spPr>
          <a:xfrm>
            <a:off x="5120640" y="5102352"/>
            <a:ext cx="3168396" cy="548640"/>
          </a:xfrm>
          <a:prstGeom prst="roundRect">
            <a:avLst>
              <a:gd name="adj" fmla="val 23333"/>
            </a:avLst>
          </a:prstGeom>
          <a:solidFill>
            <a:srgbClr val="FBF6EE"/>
          </a:solidFill>
          <a:ln w="9525">
            <a:solidFill>
              <a:srgbClr val="E3D3BA"/>
            </a:solidFill>
            <a:prstDash val="solid"/>
          </a:ln>
        </p:spPr>
      </p:sp>
      <p:sp>
        <p:nvSpPr>
          <p:cNvPr id="35" name="Shape 26"/>
          <p:cNvSpPr/>
          <p:nvPr/>
        </p:nvSpPr>
        <p:spPr>
          <a:xfrm>
            <a:off x="7795260" y="5184648"/>
            <a:ext cx="384048" cy="384048"/>
          </a:xfrm>
          <a:prstGeom prst="ellipse">
            <a:avLst/>
          </a:prstGeom>
          <a:solidFill>
            <a:srgbClr val="8A6A24"/>
          </a:solidFill>
          <a:ln/>
        </p:spPr>
      </p:sp>
      <p:pic>
        <p:nvPicPr>
          <p:cNvPr id="36" name="Image 7" descr="preencoded.png">    </p:cNvPr>
          <p:cNvPicPr>
            <a:picLocks noChangeAspect="1"/>
          </p:cNvPicPr>
          <p:nvPr/>
        </p:nvPicPr>
        <p:blipFill>
          <a:blip r:embed="rId9"/>
          <a:stretch>
            <a:fillRect/>
          </a:stretch>
        </p:blipFill>
        <p:spPr>
          <a:xfrm>
            <a:off x="7891272" y="5280660"/>
            <a:ext cx="192024" cy="192024"/>
          </a:xfrm>
          <a:prstGeom prst="rect">
            <a:avLst/>
          </a:prstGeom>
        </p:spPr>
      </p:pic>
      <p:sp>
        <p:nvSpPr>
          <p:cNvPr id="37" name="Text 27"/>
          <p:cNvSpPr txBox="1"/>
          <p:nvPr/>
        </p:nvSpPr>
        <p:spPr>
          <a:xfrm>
            <a:off x="5230368"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نقطة انطلاق وعودة للمسار الزراعي</a:t>
            </a:r>
            <a:endParaRPr lang="ar-SA" sz="1400" dirty="0"/>
          </a:p>
        </p:txBody>
      </p:sp>
      <p:sp>
        <p:nvSpPr>
          <p:cNvPr id="38" name="Text 28"/>
          <p:cNvSpPr txBox="1"/>
          <p:nvPr/>
        </p:nvSpPr>
        <p:spPr>
          <a:xfrm>
            <a:off x="5120640" y="6446520"/>
            <a:ext cx="6519672" cy="228600"/>
          </a:xfrm>
          <a:prstGeom prst="rect">
            <a:avLst/>
          </a:prstGeom>
          <a:noFill/>
          <a:ln/>
        </p:spPr>
        <p:txBody>
          <a:bodyPr wrap="square" lIns="0" tIns="0" rIns="0" bIns="0" rtlCol="0" anchor="ctr"/>
          <a:lstStyle/>
          <a:p>
            <a:pPr rtl="1" algn="r" indent="0" marL="0">
              <a:buNone/>
            </a:pPr>
            <a:r>
              <a:rPr lang="ar-SA" altLang="en-US" sz="1000" dirty="0">
                <a:solidFill>
                  <a:srgbClr val="7A5C44"/>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58400" y="5029200"/>
            <a:ext cx="3291840" cy="3291840"/>
          </a:xfrm>
          <a:prstGeom prst="ellipse">
            <a:avLst/>
          </a:prstGeom>
          <a:solidFill>
            <a:srgbClr val="D4AF55">
              <a:alpha val="12000"/>
            </a:srgbClr>
          </a:solidFill>
          <a:ln w="12700">
            <a:solidFill>
              <a:srgbClr val="D4AF55">
                <a:alpha val="0"/>
              </a:srgbClr>
            </a:solidFill>
            <a:prstDash val="solid"/>
          </a:ln>
        </p:spPr>
      </p:sp>
      <p:sp>
        <p:nvSpPr>
          <p:cNvPr id="3" name="Shape 1"/>
          <p:cNvSpPr/>
          <p:nvPr/>
        </p:nvSpPr>
        <p:spPr>
          <a:xfrm>
            <a:off x="-457200" y="0"/>
            <a:ext cx="5029200" cy="6858000"/>
          </a:xfrm>
          <a:prstGeom prst="roundRect">
            <a:avLst>
              <a:gd name="adj" fmla="val 8182"/>
            </a:avLst>
          </a:prstGeom>
          <a:solidFill>
            <a:srgbClr val="3E2D21"/>
          </a:solidFill>
          <a:ln w="15875">
            <a:solidFill>
              <a:srgbClr val="D4AF55"/>
            </a:solidFill>
            <a:prstDash val="dash"/>
          </a:ln>
        </p:spPr>
      </p:sp>
      <p:sp>
        <p:nvSpPr>
          <p:cNvPr id="4" name="Shape 2"/>
          <p:cNvSpPr/>
          <p:nvPr/>
        </p:nvSpPr>
        <p:spPr>
          <a:xfrm>
            <a:off x="-292608" y="164592"/>
            <a:ext cx="4700016" cy="6528816"/>
          </a:xfrm>
          <a:prstGeom prst="roundRect">
            <a:avLst>
              <a:gd name="adj" fmla="val 6420"/>
            </a:avLst>
          </a:prstGeom>
          <a:noFill/>
          <a:ln w="9525">
            <a:solidFill>
              <a:srgbClr val="D4AF55">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1508760" y="2057400"/>
            <a:ext cx="1554480" cy="1554480"/>
          </a:xfrm>
          <a:prstGeom prst="rect">
            <a:avLst/>
          </a:prstGeom>
        </p:spPr>
      </p:pic>
      <p:sp>
        <p:nvSpPr>
          <p:cNvPr id="6" name="Text 3"/>
          <p:cNvSpPr txBox="1"/>
          <p:nvPr/>
        </p:nvSpPr>
        <p:spPr>
          <a:xfrm>
            <a:off x="0" y="3840480"/>
            <a:ext cx="4572000" cy="365760"/>
          </a:xfrm>
          <a:prstGeom prst="rect">
            <a:avLst/>
          </a:prstGeom>
          <a:noFill/>
          <a:ln/>
        </p:spPr>
        <p:txBody>
          <a:bodyPr wrap="square" lIns="0" tIns="0" rIns="0" bIns="0" rtlCol="0" anchor="ctr"/>
          <a:lstStyle/>
          <a:p>
            <a:pPr rtl="1" algn="ctr" indent="0" marL="0">
              <a:buNone/>
            </a:pPr>
            <a:r>
              <a:rPr lang="ar-SA" altLang="en-US" sz="1800" b="1" dirty="0">
                <a:solidFill>
                  <a:srgbClr val="CDB79A"/>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0" y="4251960"/>
            <a:ext cx="4572000" cy="274320"/>
          </a:xfrm>
          <a:prstGeom prst="rect">
            <a:avLst/>
          </a:prstGeom>
          <a:noFill/>
          <a:ln/>
        </p:spPr>
        <p:txBody>
          <a:bodyPr wrap="square" lIns="0" tIns="0" rIns="0" bIns="0" rtlCol="0" anchor="ctr"/>
          <a:lstStyle/>
          <a:p>
            <a:pPr rtl="1" algn="ctr" indent="0" marL="0">
              <a:buNone/>
            </a:pPr>
            <a:r>
              <a:rPr lang="ar-SA" altLang="en-US" sz="1200" dirty="0">
                <a:solidFill>
                  <a:srgbClr val="CDB79A"/>
                </a:solidFill>
                <a:latin typeface="Dubai" pitchFamily="34" charset="0"/>
                <a:ea typeface="Dubai" pitchFamily="34" charset="-122"/>
                <a:cs typeface="Dubai" pitchFamily="34" charset="-120"/>
              </a:rPr>
              <a:t>صورة ٨</a:t>
            </a:r>
            <a:endParaRPr lang="ar-SA" sz="1200" dirty="0"/>
          </a:p>
        </p:txBody>
      </p:sp>
      <p:sp>
        <p:nvSpPr>
          <p:cNvPr id="8" name="Shape 5"/>
          <p:cNvSpPr/>
          <p:nvPr/>
        </p:nvSpPr>
        <p:spPr>
          <a:xfrm>
            <a:off x="3429000" y="4572000"/>
            <a:ext cx="1828800" cy="1828800"/>
          </a:xfrm>
          <a:prstGeom prst="ellipse">
            <a:avLst/>
          </a:prstGeom>
          <a:solidFill>
            <a:srgbClr val="D4AF55"/>
          </a:solidFill>
          <a:ln w="50800">
            <a:solidFill>
              <a:srgbClr val="2B1D14"/>
            </a:solidFill>
            <a:prstDash val="solid"/>
          </a:ln>
        </p:spPr>
      </p:sp>
      <p:sp>
        <p:nvSpPr>
          <p:cNvPr id="9" name="Text 6"/>
          <p:cNvSpPr txBox="1"/>
          <p:nvPr/>
        </p:nvSpPr>
        <p:spPr>
          <a:xfrm>
            <a:off x="3429000" y="4681728"/>
            <a:ext cx="1828800" cy="914400"/>
          </a:xfrm>
          <a:prstGeom prst="rect">
            <a:avLst/>
          </a:prstGeom>
          <a:noFill/>
          <a:ln/>
        </p:spPr>
        <p:txBody>
          <a:bodyPr wrap="square" lIns="0" tIns="0" rIns="0" bIns="0" rtlCol="0" anchor="ctr"/>
          <a:lstStyle/>
          <a:p>
            <a:pPr rtl="1" algn="ctr" indent="0" marL="0">
              <a:buNone/>
            </a:pPr>
            <a:r>
              <a:rPr lang="ar-SA" altLang="en-US" sz="5400" b="1" dirty="0">
                <a:solidFill>
                  <a:srgbClr val="2B1D14"/>
                </a:solidFill>
                <a:latin typeface="Dubai" pitchFamily="34" charset="0"/>
                <a:ea typeface="Dubai" pitchFamily="34" charset="-122"/>
                <a:cs typeface="Dubai" pitchFamily="34" charset="-120"/>
              </a:rPr>
              <a:t>٣</a:t>
            </a:r>
            <a:endParaRPr lang="ar-SA" sz="5400" dirty="0"/>
          </a:p>
        </p:txBody>
      </p:sp>
      <p:sp>
        <p:nvSpPr>
          <p:cNvPr id="10" name="Text 7"/>
          <p:cNvSpPr txBox="1"/>
          <p:nvPr/>
        </p:nvSpPr>
        <p:spPr>
          <a:xfrm>
            <a:off x="3429000" y="5577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2B1D14"/>
                </a:solidFill>
                <a:latin typeface="Dubai" pitchFamily="34" charset="0"/>
                <a:ea typeface="Dubai" pitchFamily="34" charset="-122"/>
                <a:cs typeface="Dubai" pitchFamily="34" charset="-120"/>
              </a:rPr>
              <a:t>كم</a:t>
            </a:r>
            <a:endParaRPr lang="ar-SA" sz="2000" dirty="0"/>
          </a:p>
        </p:txBody>
      </p:sp>
      <p:sp>
        <p:nvSpPr>
          <p:cNvPr id="11" name="Shape 8"/>
          <p:cNvSpPr/>
          <p:nvPr/>
        </p:nvSpPr>
        <p:spPr>
          <a:xfrm>
            <a:off x="7178040" y="548640"/>
            <a:ext cx="4462272" cy="365760"/>
          </a:xfrm>
          <a:prstGeom prst="roundRect">
            <a:avLst>
              <a:gd name="adj" fmla="val 50000"/>
            </a:avLst>
          </a:prstGeom>
          <a:solidFill>
            <a:srgbClr val="D4AF55">
              <a:alpha val="25000"/>
            </a:srgbClr>
          </a:solidFill>
          <a:ln w="9525">
            <a:solidFill>
              <a:srgbClr val="D4AF55"/>
            </a:solidFill>
            <a:prstDash val="solid"/>
          </a:ln>
        </p:spPr>
      </p:sp>
      <p:pic>
        <p:nvPicPr>
          <p:cNvPr id="12" name="Image 1" descr="preencoded.png">    </p:cNvPr>
          <p:cNvPicPr>
            <a:picLocks noChangeAspect="1"/>
          </p:cNvPicPr>
          <p:nvPr/>
        </p:nvPicPr>
        <p:blipFill>
          <a:blip r:embed="rId3"/>
          <a:stretch>
            <a:fillRect/>
          </a:stretch>
        </p:blipFill>
        <p:spPr>
          <a:xfrm>
            <a:off x="11292840" y="630936"/>
            <a:ext cx="201168" cy="201168"/>
          </a:xfrm>
          <a:prstGeom prst="rect">
            <a:avLst/>
          </a:prstGeom>
        </p:spPr>
      </p:pic>
      <p:sp>
        <p:nvSpPr>
          <p:cNvPr id="13" name="Text 9"/>
          <p:cNvSpPr txBox="1"/>
          <p:nvPr/>
        </p:nvSpPr>
        <p:spPr>
          <a:xfrm>
            <a:off x="7287768" y="548640"/>
            <a:ext cx="3913632" cy="365760"/>
          </a:xfrm>
          <a:prstGeom prst="rect">
            <a:avLst/>
          </a:prstGeom>
          <a:noFill/>
          <a:ln/>
        </p:spPr>
        <p:txBody>
          <a:bodyPr wrap="square" lIns="0" tIns="0" rIns="0" bIns="0" rtlCol="0" anchor="ctr"/>
          <a:lstStyle/>
          <a:p>
            <a:pPr rtl="1" algn="r" indent="0" marL="0">
              <a:buNone/>
            </a:pPr>
            <a:r>
              <a:rPr lang="ar-SA" altLang="en-US" sz="1300" b="1" dirty="0">
                <a:solidFill>
                  <a:srgbClr val="D4AF55"/>
                </a:solidFill>
                <a:latin typeface="Dubai" pitchFamily="34" charset="0"/>
                <a:ea typeface="Dubai" pitchFamily="34" charset="-122"/>
                <a:cs typeface="Dubai" pitchFamily="34" charset="-120"/>
              </a:rPr>
              <a:t>المجمعة — مغامرة بين النخيل</a:t>
            </a:r>
            <a:endParaRPr lang="ar-SA" sz="1300" dirty="0"/>
          </a:p>
        </p:txBody>
      </p:sp>
      <p:sp>
        <p:nvSpPr>
          <p:cNvPr id="14" name="Text 10"/>
          <p:cNvSpPr txBox="1"/>
          <p:nvPr/>
        </p:nvSpPr>
        <p:spPr>
          <a:xfrm>
            <a:off x="5120640" y="1005840"/>
            <a:ext cx="6519672" cy="1143000"/>
          </a:xfrm>
          <a:prstGeom prst="rect">
            <a:avLst/>
          </a:prstGeom>
          <a:noFill/>
          <a:ln/>
        </p:spPr>
        <p:txBody>
          <a:bodyPr wrap="square" lIns="0" tIns="0" rIns="0" bIns="0" rtlCol="0" anchor="t"/>
          <a:lstStyle/>
          <a:p>
            <a:pPr rtl="1" algn="r" indent="0" marL="0">
              <a:buNone/>
            </a:pPr>
            <a:r>
              <a:rPr lang="ar-SA" altLang="en-US" sz="3600" b="1" dirty="0">
                <a:solidFill>
                  <a:srgbClr val="F3EADB"/>
                </a:solidFill>
                <a:latin typeface="Dubai" pitchFamily="34" charset="0"/>
                <a:ea typeface="Dubai" pitchFamily="34" charset="-122"/>
                <a:cs typeface="Dubai" pitchFamily="34" charset="-120"/>
              </a:rPr>
              <a:t>ثلاثة كيلومترات من المغامرة</a:t>
            </a:r>
            <a:endParaRPr lang="ar-SA" sz="3600" dirty="0"/>
          </a:p>
        </p:txBody>
      </p:sp>
      <p:sp>
        <p:nvSpPr>
          <p:cNvPr id="15" name="Text 11"/>
          <p:cNvSpPr txBox="1"/>
          <p:nvPr/>
        </p:nvSpPr>
        <p:spPr>
          <a:xfrm>
            <a:off x="5120640" y="2194560"/>
            <a:ext cx="6519672"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من الهب الرئيسي، تبدأ رحلة مختلفة بين النخيل؛ مسار يقارب ثلاثة كيلومترات يمنح الزائر فرصة لاكتشاف المزارع من منظور جديد، سيرًا أو عبر تجارب مغامرات منظمة.</a:t>
            </a:r>
            <a:endParaRPr lang="ar-SA" sz="1500" dirty="0"/>
          </a:p>
        </p:txBody>
      </p:sp>
      <p:sp>
        <p:nvSpPr>
          <p:cNvPr id="16" name="Text 12"/>
          <p:cNvSpPr txBox="1"/>
          <p:nvPr/>
        </p:nvSpPr>
        <p:spPr>
          <a:xfrm>
            <a:off x="5120640" y="3493008"/>
            <a:ext cx="6519672" cy="274320"/>
          </a:xfrm>
          <a:prstGeom prst="rect">
            <a:avLst/>
          </a:prstGeom>
          <a:noFill/>
          <a:ln/>
        </p:spPr>
        <p:txBody>
          <a:bodyPr wrap="square" lIns="0" tIns="0" rIns="0" bIns="0" rtlCol="0" anchor="ctr"/>
          <a:lstStyle/>
          <a:p>
            <a:pPr rtl="1" algn="r" indent="0" marL="0">
              <a:buNone/>
            </a:pPr>
            <a:r>
              <a:rPr lang="ar-SA" altLang="en-US" sz="1400" b="1" dirty="0">
                <a:solidFill>
                  <a:srgbClr val="D4AF55"/>
                </a:solidFill>
                <a:latin typeface="Dubai" pitchFamily="34" charset="0"/>
                <a:ea typeface="Dubai" pitchFamily="34" charset="-122"/>
                <a:cs typeface="Dubai" pitchFamily="34" charset="-120"/>
              </a:rPr>
              <a:t>التجارب المقترحة</a:t>
            </a:r>
            <a:endParaRPr lang="ar-SA" sz="1400" dirty="0"/>
          </a:p>
        </p:txBody>
      </p:sp>
      <p:sp>
        <p:nvSpPr>
          <p:cNvPr id="17" name="Shape 13"/>
          <p:cNvSpPr/>
          <p:nvPr/>
        </p:nvSpPr>
        <p:spPr>
          <a:xfrm>
            <a:off x="8471916" y="3858768"/>
            <a:ext cx="3168396" cy="548640"/>
          </a:xfrm>
          <a:prstGeom prst="roundRect">
            <a:avLst>
              <a:gd name="adj" fmla="val 23333"/>
            </a:avLst>
          </a:prstGeom>
          <a:solidFill>
            <a:srgbClr val="3A2A1F"/>
          </a:solidFill>
          <a:ln w="9525">
            <a:solidFill>
              <a:srgbClr val="4D3A2C"/>
            </a:solidFill>
            <a:prstDash val="solid"/>
          </a:ln>
        </p:spPr>
      </p:sp>
      <p:sp>
        <p:nvSpPr>
          <p:cNvPr id="18" name="Shape 14"/>
          <p:cNvSpPr/>
          <p:nvPr/>
        </p:nvSpPr>
        <p:spPr>
          <a:xfrm>
            <a:off x="11146536" y="3941064"/>
            <a:ext cx="384048" cy="384048"/>
          </a:xfrm>
          <a:prstGeom prst="ellipse">
            <a:avLst/>
          </a:prstGeom>
          <a:solidFill>
            <a:srgbClr val="D4AF55"/>
          </a:solidFill>
          <a:ln/>
        </p:spPr>
      </p:sp>
      <p:pic>
        <p:nvPicPr>
          <p:cNvPr id="19" name="Image 2" descr="preencoded.png">    </p:cNvPr>
          <p:cNvPicPr>
            <a:picLocks noChangeAspect="1"/>
          </p:cNvPicPr>
          <p:nvPr/>
        </p:nvPicPr>
        <p:blipFill>
          <a:blip r:embed="rId4"/>
          <a:stretch>
            <a:fillRect/>
          </a:stretch>
        </p:blipFill>
        <p:spPr>
          <a:xfrm>
            <a:off x="11242548" y="4037076"/>
            <a:ext cx="192024" cy="192024"/>
          </a:xfrm>
          <a:prstGeom prst="rect">
            <a:avLst/>
          </a:prstGeom>
        </p:spPr>
      </p:pic>
      <p:sp>
        <p:nvSpPr>
          <p:cNvPr id="20" name="Text 15"/>
          <p:cNvSpPr txBox="1"/>
          <p:nvPr/>
        </p:nvSpPr>
        <p:spPr>
          <a:xfrm>
            <a:off x="8581644"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مسار للمشي والاستكشاف بين النخيل</a:t>
            </a:r>
            <a:endParaRPr lang="ar-SA" sz="1400" dirty="0"/>
          </a:p>
        </p:txBody>
      </p:sp>
      <p:sp>
        <p:nvSpPr>
          <p:cNvPr id="21" name="Shape 16"/>
          <p:cNvSpPr/>
          <p:nvPr/>
        </p:nvSpPr>
        <p:spPr>
          <a:xfrm>
            <a:off x="5120640" y="3858768"/>
            <a:ext cx="3168396" cy="548640"/>
          </a:xfrm>
          <a:prstGeom prst="roundRect">
            <a:avLst>
              <a:gd name="adj" fmla="val 23333"/>
            </a:avLst>
          </a:prstGeom>
          <a:solidFill>
            <a:srgbClr val="3A2A1F"/>
          </a:solidFill>
          <a:ln w="9525">
            <a:solidFill>
              <a:srgbClr val="4D3A2C"/>
            </a:solidFill>
            <a:prstDash val="solid"/>
          </a:ln>
        </p:spPr>
      </p:sp>
      <p:sp>
        <p:nvSpPr>
          <p:cNvPr id="22" name="Shape 17"/>
          <p:cNvSpPr/>
          <p:nvPr/>
        </p:nvSpPr>
        <p:spPr>
          <a:xfrm>
            <a:off x="7795260" y="3941064"/>
            <a:ext cx="384048" cy="384048"/>
          </a:xfrm>
          <a:prstGeom prst="ellipse">
            <a:avLst/>
          </a:prstGeom>
          <a:solidFill>
            <a:srgbClr val="D4AF55"/>
          </a:solidFill>
          <a:ln/>
        </p:spPr>
      </p:sp>
      <p:pic>
        <p:nvPicPr>
          <p:cNvPr id="23" name="Image 3" descr="preencoded.png">    </p:cNvPr>
          <p:cNvPicPr>
            <a:picLocks noChangeAspect="1"/>
          </p:cNvPicPr>
          <p:nvPr/>
        </p:nvPicPr>
        <p:blipFill>
          <a:blip r:embed="rId5"/>
          <a:stretch>
            <a:fillRect/>
          </a:stretch>
        </p:blipFill>
        <p:spPr>
          <a:xfrm>
            <a:off x="7891272" y="4037076"/>
            <a:ext cx="192024" cy="192024"/>
          </a:xfrm>
          <a:prstGeom prst="rect">
            <a:avLst/>
          </a:prstGeom>
        </p:spPr>
      </p:pic>
      <p:sp>
        <p:nvSpPr>
          <p:cNvPr id="24" name="Text 18"/>
          <p:cNvSpPr txBox="1"/>
          <p:nvPr/>
        </p:nvSpPr>
        <p:spPr>
          <a:xfrm>
            <a:off x="5230368" y="3858768"/>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تجربة الدراجات الهوائية</a:t>
            </a:r>
            <a:endParaRPr lang="ar-SA" sz="1400" dirty="0"/>
          </a:p>
        </p:txBody>
      </p:sp>
      <p:sp>
        <p:nvSpPr>
          <p:cNvPr id="25" name="Shape 19"/>
          <p:cNvSpPr/>
          <p:nvPr/>
        </p:nvSpPr>
        <p:spPr>
          <a:xfrm>
            <a:off x="8471916" y="4480560"/>
            <a:ext cx="3168396" cy="548640"/>
          </a:xfrm>
          <a:prstGeom prst="roundRect">
            <a:avLst>
              <a:gd name="adj" fmla="val 23333"/>
            </a:avLst>
          </a:prstGeom>
          <a:solidFill>
            <a:srgbClr val="3A2A1F"/>
          </a:solidFill>
          <a:ln w="9525">
            <a:solidFill>
              <a:srgbClr val="4D3A2C"/>
            </a:solidFill>
            <a:prstDash val="solid"/>
          </a:ln>
        </p:spPr>
      </p:sp>
      <p:sp>
        <p:nvSpPr>
          <p:cNvPr id="26" name="Shape 20"/>
          <p:cNvSpPr/>
          <p:nvPr/>
        </p:nvSpPr>
        <p:spPr>
          <a:xfrm>
            <a:off x="11146536" y="4562856"/>
            <a:ext cx="384048" cy="384048"/>
          </a:xfrm>
          <a:prstGeom prst="ellipse">
            <a:avLst/>
          </a:prstGeom>
          <a:solidFill>
            <a:srgbClr val="D4AF55"/>
          </a:solidFill>
          <a:ln/>
        </p:spPr>
      </p:sp>
      <p:pic>
        <p:nvPicPr>
          <p:cNvPr id="27" name="Image 4" descr="preencoded.png">    </p:cNvPr>
          <p:cNvPicPr>
            <a:picLocks noChangeAspect="1"/>
          </p:cNvPicPr>
          <p:nvPr/>
        </p:nvPicPr>
        <p:blipFill>
          <a:blip r:embed="rId6"/>
          <a:stretch>
            <a:fillRect/>
          </a:stretch>
        </p:blipFill>
        <p:spPr>
          <a:xfrm>
            <a:off x="11242548" y="4658868"/>
            <a:ext cx="192024" cy="192024"/>
          </a:xfrm>
          <a:prstGeom prst="rect">
            <a:avLst/>
          </a:prstGeom>
        </p:spPr>
      </p:pic>
      <p:sp>
        <p:nvSpPr>
          <p:cNvPr id="28" name="Text 21"/>
          <p:cNvSpPr txBox="1"/>
          <p:nvPr/>
        </p:nvSpPr>
        <p:spPr>
          <a:xfrm>
            <a:off x="8581644"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جولات بالدراجات النارية أو الدبابات بإشراف مختصين</a:t>
            </a:r>
            <a:endParaRPr lang="ar-SA" sz="1400" dirty="0"/>
          </a:p>
        </p:txBody>
      </p:sp>
      <p:sp>
        <p:nvSpPr>
          <p:cNvPr id="29" name="Shape 22"/>
          <p:cNvSpPr/>
          <p:nvPr/>
        </p:nvSpPr>
        <p:spPr>
          <a:xfrm>
            <a:off x="5120640" y="4480560"/>
            <a:ext cx="3168396" cy="548640"/>
          </a:xfrm>
          <a:prstGeom prst="roundRect">
            <a:avLst>
              <a:gd name="adj" fmla="val 23333"/>
            </a:avLst>
          </a:prstGeom>
          <a:solidFill>
            <a:srgbClr val="3A2A1F"/>
          </a:solidFill>
          <a:ln w="9525">
            <a:solidFill>
              <a:srgbClr val="4D3A2C"/>
            </a:solidFill>
            <a:prstDash val="solid"/>
          </a:ln>
        </p:spPr>
      </p:sp>
      <p:sp>
        <p:nvSpPr>
          <p:cNvPr id="30" name="Shape 23"/>
          <p:cNvSpPr/>
          <p:nvPr/>
        </p:nvSpPr>
        <p:spPr>
          <a:xfrm>
            <a:off x="7795260" y="4562856"/>
            <a:ext cx="384048" cy="384048"/>
          </a:xfrm>
          <a:prstGeom prst="ellipse">
            <a:avLst/>
          </a:prstGeom>
          <a:solidFill>
            <a:srgbClr val="D4AF55"/>
          </a:solidFill>
          <a:ln/>
        </p:spPr>
      </p:sp>
      <p:pic>
        <p:nvPicPr>
          <p:cNvPr id="31" name="Image 5" descr="preencoded.png">    </p:cNvPr>
          <p:cNvPicPr>
            <a:picLocks noChangeAspect="1"/>
          </p:cNvPicPr>
          <p:nvPr/>
        </p:nvPicPr>
        <p:blipFill>
          <a:blip r:embed="rId7"/>
          <a:stretch>
            <a:fillRect/>
          </a:stretch>
        </p:blipFill>
        <p:spPr>
          <a:xfrm>
            <a:off x="7891272" y="4658868"/>
            <a:ext cx="192024" cy="192024"/>
          </a:xfrm>
          <a:prstGeom prst="rect">
            <a:avLst/>
          </a:prstGeom>
        </p:spPr>
      </p:pic>
      <p:sp>
        <p:nvSpPr>
          <p:cNvPr id="32" name="Text 24"/>
          <p:cNvSpPr txBox="1"/>
          <p:nvPr/>
        </p:nvSpPr>
        <p:spPr>
          <a:xfrm>
            <a:off x="5230368" y="4480560"/>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نقاط توقف للتصوير والتعرّف على البيئة الزراعية</a:t>
            </a:r>
            <a:endParaRPr lang="ar-SA" sz="1400" dirty="0"/>
          </a:p>
        </p:txBody>
      </p:sp>
      <p:sp>
        <p:nvSpPr>
          <p:cNvPr id="33" name="Shape 25"/>
          <p:cNvSpPr/>
          <p:nvPr/>
        </p:nvSpPr>
        <p:spPr>
          <a:xfrm>
            <a:off x="8471916" y="5102352"/>
            <a:ext cx="3168396" cy="548640"/>
          </a:xfrm>
          <a:prstGeom prst="roundRect">
            <a:avLst>
              <a:gd name="adj" fmla="val 23333"/>
            </a:avLst>
          </a:prstGeom>
          <a:solidFill>
            <a:srgbClr val="3A2A1F"/>
          </a:solidFill>
          <a:ln w="9525">
            <a:solidFill>
              <a:srgbClr val="4D3A2C"/>
            </a:solidFill>
            <a:prstDash val="solid"/>
          </a:ln>
        </p:spPr>
      </p:sp>
      <p:sp>
        <p:nvSpPr>
          <p:cNvPr id="34" name="Shape 26"/>
          <p:cNvSpPr/>
          <p:nvPr/>
        </p:nvSpPr>
        <p:spPr>
          <a:xfrm>
            <a:off x="11146536" y="5184648"/>
            <a:ext cx="384048" cy="384048"/>
          </a:xfrm>
          <a:prstGeom prst="ellipse">
            <a:avLst/>
          </a:prstGeom>
          <a:solidFill>
            <a:srgbClr val="D4AF55"/>
          </a:solidFill>
          <a:ln/>
        </p:spPr>
      </p:sp>
      <p:pic>
        <p:nvPicPr>
          <p:cNvPr id="35" name="Image 6" descr="preencoded.png">    </p:cNvPr>
          <p:cNvPicPr>
            <a:picLocks noChangeAspect="1"/>
          </p:cNvPicPr>
          <p:nvPr/>
        </p:nvPicPr>
        <p:blipFill>
          <a:blip r:embed="rId8"/>
          <a:stretch>
            <a:fillRect/>
          </a:stretch>
        </p:blipFill>
        <p:spPr>
          <a:xfrm>
            <a:off x="11242548" y="5280660"/>
            <a:ext cx="192024" cy="192024"/>
          </a:xfrm>
          <a:prstGeom prst="rect">
            <a:avLst/>
          </a:prstGeom>
        </p:spPr>
      </p:pic>
      <p:sp>
        <p:nvSpPr>
          <p:cNvPr id="36" name="Text 27"/>
          <p:cNvSpPr txBox="1"/>
          <p:nvPr/>
        </p:nvSpPr>
        <p:spPr>
          <a:xfrm>
            <a:off x="8581644"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ضيافة محلية عند نقطة الانطلاق والعودة</a:t>
            </a:r>
            <a:endParaRPr lang="ar-SA" sz="1400" dirty="0"/>
          </a:p>
        </p:txBody>
      </p:sp>
      <p:sp>
        <p:nvSpPr>
          <p:cNvPr id="37" name="Shape 28"/>
          <p:cNvSpPr/>
          <p:nvPr/>
        </p:nvSpPr>
        <p:spPr>
          <a:xfrm>
            <a:off x="5120640" y="5102352"/>
            <a:ext cx="3168396" cy="548640"/>
          </a:xfrm>
          <a:prstGeom prst="roundRect">
            <a:avLst>
              <a:gd name="adj" fmla="val 23333"/>
            </a:avLst>
          </a:prstGeom>
          <a:solidFill>
            <a:srgbClr val="3A2A1F"/>
          </a:solidFill>
          <a:ln w="9525">
            <a:solidFill>
              <a:srgbClr val="4D3A2C"/>
            </a:solidFill>
            <a:prstDash val="solid"/>
          </a:ln>
        </p:spPr>
      </p:sp>
      <p:sp>
        <p:nvSpPr>
          <p:cNvPr id="38" name="Shape 29"/>
          <p:cNvSpPr/>
          <p:nvPr/>
        </p:nvSpPr>
        <p:spPr>
          <a:xfrm>
            <a:off x="7795260" y="5184648"/>
            <a:ext cx="384048" cy="384048"/>
          </a:xfrm>
          <a:prstGeom prst="ellipse">
            <a:avLst/>
          </a:prstGeom>
          <a:solidFill>
            <a:srgbClr val="D4AF55"/>
          </a:solidFill>
          <a:ln/>
        </p:spPr>
      </p:sp>
      <p:pic>
        <p:nvPicPr>
          <p:cNvPr id="39" name="Image 7" descr="preencoded.png">    </p:cNvPr>
          <p:cNvPicPr>
            <a:picLocks noChangeAspect="1"/>
          </p:cNvPicPr>
          <p:nvPr/>
        </p:nvPicPr>
        <p:blipFill>
          <a:blip r:embed="rId9"/>
          <a:stretch>
            <a:fillRect/>
          </a:stretch>
        </p:blipFill>
        <p:spPr>
          <a:xfrm>
            <a:off x="7891272" y="5280660"/>
            <a:ext cx="192024" cy="192024"/>
          </a:xfrm>
          <a:prstGeom prst="rect">
            <a:avLst/>
          </a:prstGeom>
        </p:spPr>
      </p:pic>
      <p:sp>
        <p:nvSpPr>
          <p:cNvPr id="40" name="Text 30"/>
          <p:cNvSpPr txBox="1"/>
          <p:nvPr/>
        </p:nvSpPr>
        <p:spPr>
          <a:xfrm>
            <a:off x="5230368" y="5102352"/>
            <a:ext cx="2455164"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منتجات زراعية ومحلية يمكن اقتناؤها</a:t>
            </a:r>
            <a:endParaRPr lang="ar-SA" sz="1400" dirty="0"/>
          </a:p>
        </p:txBody>
      </p:sp>
      <p:sp>
        <p:nvSpPr>
          <p:cNvPr id="41" name="Text 31"/>
          <p:cNvSpPr txBox="1"/>
          <p:nvPr/>
        </p:nvSpPr>
        <p:spPr>
          <a:xfrm>
            <a:off x="5120640" y="6446520"/>
            <a:ext cx="6519672" cy="228600"/>
          </a:xfrm>
          <a:prstGeom prst="rect">
            <a:avLst/>
          </a:prstGeom>
          <a:noFill/>
          <a:ln/>
        </p:spPr>
        <p:txBody>
          <a:bodyPr wrap="square" lIns="0" tIns="0" rIns="0" bIns="0" rtlCol="0" anchor="ctr"/>
          <a:lstStyle/>
          <a:p>
            <a:pPr rtl="1" algn="r" indent="0" marL="0">
              <a:buNone/>
            </a:pPr>
            <a:r>
              <a:rPr lang="ar-SA" altLang="en-US" sz="1000" dirty="0">
                <a:solidFill>
                  <a:srgbClr val="CDB79A"/>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1005840"/>
            <a:ext cx="11091672" cy="2103120"/>
          </a:xfrm>
          <a:prstGeom prst="roundRect">
            <a:avLst>
              <a:gd name="adj" fmla="val 17391"/>
            </a:avLst>
          </a:prstGeom>
          <a:solidFill>
            <a:srgbClr val="E6D6BC"/>
          </a:solidFill>
          <a:ln w="15875">
            <a:solidFill>
              <a:srgbClr val="A68460"/>
            </a:solidFill>
            <a:prstDash val="dash"/>
          </a:ln>
        </p:spPr>
      </p:sp>
      <p:sp>
        <p:nvSpPr>
          <p:cNvPr id="3" name="Shape 1"/>
          <p:cNvSpPr/>
          <p:nvPr/>
        </p:nvSpPr>
        <p:spPr>
          <a:xfrm>
            <a:off x="713232" y="1170432"/>
            <a:ext cx="10762488" cy="1773936"/>
          </a:xfrm>
          <a:prstGeom prst="roundRect">
            <a:avLst>
              <a:gd name="adj" fmla="val 14433"/>
            </a:avLst>
          </a:prstGeom>
          <a:noFill/>
          <a:ln w="9525">
            <a:solidFill>
              <a:srgbClr val="7D5A44">
                <a:alpha val="45000"/>
              </a:srgbClr>
            </a:solidFill>
            <a:prstDash val="solid"/>
          </a:ln>
        </p:spPr>
      </p:sp>
      <p:pic>
        <p:nvPicPr>
          <p:cNvPr id="4" name="Image 0" descr="preencoded.png">    </p:cNvPr>
          <p:cNvPicPr>
            <a:picLocks noChangeAspect="1"/>
          </p:cNvPicPr>
          <p:nvPr/>
        </p:nvPicPr>
        <p:blipFill>
          <a:blip r:embed="rId2">
            <a:alphaModFix amt="70000"/>
          </a:blip>
          <a:stretch>
            <a:fillRect/>
          </a:stretch>
        </p:blipFill>
        <p:spPr>
          <a:xfrm>
            <a:off x="5728716" y="1188720"/>
            <a:ext cx="731520" cy="731520"/>
          </a:xfrm>
          <a:prstGeom prst="rect">
            <a:avLst/>
          </a:prstGeom>
        </p:spPr>
      </p:pic>
      <p:sp>
        <p:nvSpPr>
          <p:cNvPr id="5" name="Text 2"/>
          <p:cNvSpPr txBox="1"/>
          <p:nvPr/>
        </p:nvSpPr>
        <p:spPr>
          <a:xfrm>
            <a:off x="548640" y="2148840"/>
            <a:ext cx="11091672" cy="365760"/>
          </a:xfrm>
          <a:prstGeom prst="rect">
            <a:avLst/>
          </a:prstGeom>
          <a:noFill/>
          <a:ln/>
        </p:spPr>
        <p:txBody>
          <a:bodyPr wrap="square" lIns="0" tIns="0" rIns="0" bIns="0" rtlCol="0" anchor="ctr"/>
          <a:lstStyle/>
          <a:p>
            <a:pPr rtl="1" algn="ctr" indent="0" marL="0">
              <a:buNone/>
            </a:pPr>
            <a:r>
              <a:rPr lang="ar-SA" altLang="en-US" sz="1800" b="1" dirty="0">
                <a:solidFill>
                  <a:srgbClr val="7A5C44"/>
                </a:solidFill>
                <a:latin typeface="Dubai" pitchFamily="34" charset="0"/>
                <a:ea typeface="Dubai" pitchFamily="34" charset="-122"/>
                <a:cs typeface="Dubai" pitchFamily="34" charset="-120"/>
              </a:rPr>
              <a:t>مساحة الصورة</a:t>
            </a:r>
            <a:endParaRPr lang="ar-SA" sz="1800" dirty="0"/>
          </a:p>
        </p:txBody>
      </p:sp>
      <p:sp>
        <p:nvSpPr>
          <p:cNvPr id="6" name="Text 3"/>
          <p:cNvSpPr txBox="1"/>
          <p:nvPr/>
        </p:nvSpPr>
        <p:spPr>
          <a:xfrm>
            <a:off x="548640" y="2560320"/>
            <a:ext cx="11091672" cy="274320"/>
          </a:xfrm>
          <a:prstGeom prst="rect">
            <a:avLst/>
          </a:prstGeom>
          <a:noFill/>
          <a:ln/>
        </p:spPr>
        <p:txBody>
          <a:bodyPr wrap="square" lIns="0" tIns="0" rIns="0" bIns="0" rtlCol="0" anchor="ctr"/>
          <a:lstStyle/>
          <a:p>
            <a:pPr rtl="1" algn="ctr" indent="0" marL="0">
              <a:buNone/>
            </a:pPr>
            <a:r>
              <a:rPr lang="ar-SA" altLang="en-US" sz="1200" dirty="0">
                <a:solidFill>
                  <a:srgbClr val="7A5C44"/>
                </a:solidFill>
                <a:latin typeface="Dubai" pitchFamily="34" charset="0"/>
                <a:ea typeface="Dubai" pitchFamily="34" charset="-122"/>
                <a:cs typeface="Dubai" pitchFamily="34" charset="-120"/>
              </a:rPr>
              <a:t>صورة ٩</a:t>
            </a:r>
            <a:endParaRPr lang="ar-SA" sz="1200" dirty="0"/>
          </a:p>
        </p:txBody>
      </p:sp>
      <p:sp>
        <p:nvSpPr>
          <p:cNvPr id="7" name="Shape 4"/>
          <p:cNvSpPr/>
          <p:nvPr/>
        </p:nvSpPr>
        <p:spPr>
          <a:xfrm>
            <a:off x="7306056" y="365760"/>
            <a:ext cx="4334256" cy="365760"/>
          </a:xfrm>
          <a:prstGeom prst="roundRect">
            <a:avLst>
              <a:gd name="adj" fmla="val 50000"/>
            </a:avLst>
          </a:prstGeom>
          <a:solidFill>
            <a:srgbClr val="7D5A44">
              <a:alpha val="18000"/>
            </a:srgbClr>
          </a:solidFill>
          <a:ln w="9525">
            <a:solidFill>
              <a:srgbClr val="7D5A44"/>
            </a:solidFill>
            <a:prstDash val="solid"/>
          </a:ln>
        </p:spPr>
      </p:sp>
      <p:pic>
        <p:nvPicPr>
          <p:cNvPr id="8" name="Image 1" descr="preencoded.png">    </p:cNvPr>
          <p:cNvPicPr>
            <a:picLocks noChangeAspect="1"/>
          </p:cNvPicPr>
          <p:nvPr/>
        </p:nvPicPr>
        <p:blipFill>
          <a:blip r:embed="rId3"/>
          <a:stretch>
            <a:fillRect/>
          </a:stretch>
        </p:blipFill>
        <p:spPr>
          <a:xfrm>
            <a:off x="11292840" y="448056"/>
            <a:ext cx="201168" cy="201168"/>
          </a:xfrm>
          <a:prstGeom prst="rect">
            <a:avLst/>
          </a:prstGeom>
        </p:spPr>
      </p:pic>
      <p:sp>
        <p:nvSpPr>
          <p:cNvPr id="9" name="Text 5"/>
          <p:cNvSpPr txBox="1"/>
          <p:nvPr/>
        </p:nvSpPr>
        <p:spPr>
          <a:xfrm>
            <a:off x="7415784" y="365760"/>
            <a:ext cx="3785616" cy="365760"/>
          </a:xfrm>
          <a:prstGeom prst="rect">
            <a:avLst/>
          </a:prstGeom>
          <a:noFill/>
          <a:ln/>
        </p:spPr>
        <p:txBody>
          <a:bodyPr wrap="square" lIns="0" tIns="0" rIns="0" bIns="0" rtlCol="0" anchor="ctr"/>
          <a:lstStyle/>
          <a:p>
            <a:pPr rtl="1" algn="r" indent="0" marL="0">
              <a:buNone/>
            </a:pPr>
            <a:r>
              <a:rPr lang="ar-SA" altLang="en-US" sz="1300" b="1" dirty="0">
                <a:solidFill>
                  <a:srgbClr val="7D5A44"/>
                </a:solidFill>
                <a:latin typeface="Dubai" pitchFamily="34" charset="0"/>
                <a:ea typeface="Dubai" pitchFamily="34" charset="-122"/>
                <a:cs typeface="Dubai" pitchFamily="34" charset="-120"/>
              </a:rPr>
              <a:t>خرطم — إطلالة تستحق التوقف</a:t>
            </a:r>
            <a:endParaRPr lang="ar-SA" sz="1300" dirty="0"/>
          </a:p>
        </p:txBody>
      </p:sp>
      <p:sp>
        <p:nvSpPr>
          <p:cNvPr id="10" name="Text 6"/>
          <p:cNvSpPr txBox="1"/>
          <p:nvPr/>
        </p:nvSpPr>
        <p:spPr>
          <a:xfrm>
            <a:off x="6035040" y="3337560"/>
            <a:ext cx="5605272" cy="1143000"/>
          </a:xfrm>
          <a:prstGeom prst="rect">
            <a:avLst/>
          </a:prstGeom>
          <a:noFill/>
          <a:ln/>
        </p:spPr>
        <p:txBody>
          <a:bodyPr wrap="square" lIns="0" tIns="0" rIns="0" bIns="0" rtlCol="0" anchor="t"/>
          <a:lstStyle/>
          <a:p>
            <a:pPr rtl="1" algn="r" indent="0" marL="0">
              <a:buNone/>
            </a:pPr>
            <a:r>
              <a:rPr lang="ar-SA" altLang="en-US" sz="3600" b="1" dirty="0">
                <a:solidFill>
                  <a:srgbClr val="3B2A1E"/>
                </a:solidFill>
                <a:latin typeface="Dubai" pitchFamily="34" charset="0"/>
                <a:ea typeface="Dubai" pitchFamily="34" charset="-122"/>
                <a:cs typeface="Dubai" pitchFamily="34" charset="-120"/>
              </a:rPr>
              <a:t>من أعلى المشهد، تبدأ الحكاية</a:t>
            </a:r>
            <a:endParaRPr lang="ar-SA" sz="3600" dirty="0"/>
          </a:p>
        </p:txBody>
      </p:sp>
      <p:sp>
        <p:nvSpPr>
          <p:cNvPr id="11" name="Text 7"/>
          <p:cNvSpPr txBox="1"/>
          <p:nvPr/>
        </p:nvSpPr>
        <p:spPr>
          <a:xfrm>
            <a:off x="6035040" y="4526280"/>
            <a:ext cx="5605272" cy="17373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4A3628"/>
                </a:solidFill>
                <a:latin typeface="Dubai" pitchFamily="34" charset="0"/>
                <a:ea typeface="Dubai" pitchFamily="34" charset="-122"/>
                <a:cs typeface="Dubai" pitchFamily="34" charset="-120"/>
              </a:rPr>
              <a:t>في منتزه خرطم بالمذنب، نعمل على تصور وجهة ترفيهية متكاملة تستثمر طبيعة الموقع وإطلالته، وتجمع بين المساحات المفتوحة والضيافة والطعام والتجارب العائلية في مكان واحد.</a:t>
            </a:r>
            <a:endParaRPr lang="ar-SA" sz="1500" dirty="0"/>
          </a:p>
        </p:txBody>
      </p:sp>
      <p:sp>
        <p:nvSpPr>
          <p:cNvPr id="12" name="Text 8"/>
          <p:cNvSpPr txBox="1"/>
          <p:nvPr/>
        </p:nvSpPr>
        <p:spPr>
          <a:xfrm>
            <a:off x="548640" y="3291840"/>
            <a:ext cx="5029200" cy="274320"/>
          </a:xfrm>
          <a:prstGeom prst="rect">
            <a:avLst/>
          </a:prstGeom>
          <a:noFill/>
          <a:ln/>
        </p:spPr>
        <p:txBody>
          <a:bodyPr wrap="square" lIns="0" tIns="0" rIns="0" bIns="0" rtlCol="0" anchor="ctr"/>
          <a:lstStyle/>
          <a:p>
            <a:pPr rtl="1" algn="r" indent="0" marL="0">
              <a:buNone/>
            </a:pPr>
            <a:r>
              <a:rPr lang="ar-SA" altLang="en-US" sz="1400" b="1" dirty="0">
                <a:solidFill>
                  <a:srgbClr val="7D5A44"/>
                </a:solidFill>
                <a:latin typeface="Dubai" pitchFamily="34" charset="0"/>
                <a:ea typeface="Dubai" pitchFamily="34" charset="-122"/>
                <a:cs typeface="Dubai" pitchFamily="34" charset="-120"/>
              </a:rPr>
              <a:t>مكونات التطوير</a:t>
            </a:r>
            <a:endParaRPr lang="ar-SA" sz="1400" dirty="0"/>
          </a:p>
        </p:txBody>
      </p:sp>
      <p:sp>
        <p:nvSpPr>
          <p:cNvPr id="13" name="Shape 9"/>
          <p:cNvSpPr/>
          <p:nvPr/>
        </p:nvSpPr>
        <p:spPr>
          <a:xfrm>
            <a:off x="548640" y="3657600"/>
            <a:ext cx="5029200" cy="402336"/>
          </a:xfrm>
          <a:prstGeom prst="roundRect">
            <a:avLst>
              <a:gd name="adj" fmla="val 31818"/>
            </a:avLst>
          </a:prstGeom>
          <a:solidFill>
            <a:srgbClr val="FBF6EE"/>
          </a:solidFill>
          <a:ln w="9525">
            <a:solidFill>
              <a:srgbClr val="E3D3BA"/>
            </a:solidFill>
            <a:prstDash val="solid"/>
          </a:ln>
        </p:spPr>
      </p:sp>
      <p:sp>
        <p:nvSpPr>
          <p:cNvPr id="14" name="Shape 10"/>
          <p:cNvSpPr/>
          <p:nvPr/>
        </p:nvSpPr>
        <p:spPr>
          <a:xfrm>
            <a:off x="5157216" y="3703320"/>
            <a:ext cx="310896" cy="310896"/>
          </a:xfrm>
          <a:prstGeom prst="ellipse">
            <a:avLst/>
          </a:prstGeom>
          <a:solidFill>
            <a:srgbClr val="7D5A44"/>
          </a:solidFill>
          <a:ln/>
        </p:spPr>
      </p:sp>
      <p:pic>
        <p:nvPicPr>
          <p:cNvPr id="15" name="Image 2" descr="preencoded.png">    </p:cNvPr>
          <p:cNvPicPr>
            <a:picLocks noChangeAspect="1"/>
          </p:cNvPicPr>
          <p:nvPr/>
        </p:nvPicPr>
        <p:blipFill>
          <a:blip r:embed="rId4"/>
          <a:stretch>
            <a:fillRect/>
          </a:stretch>
        </p:blipFill>
        <p:spPr>
          <a:xfrm>
            <a:off x="5234940" y="3781044"/>
            <a:ext cx="155448" cy="155448"/>
          </a:xfrm>
          <a:prstGeom prst="rect">
            <a:avLst/>
          </a:prstGeom>
        </p:spPr>
      </p:pic>
      <p:sp>
        <p:nvSpPr>
          <p:cNvPr id="16" name="Text 11"/>
          <p:cNvSpPr txBox="1"/>
          <p:nvPr/>
        </p:nvSpPr>
        <p:spPr>
          <a:xfrm>
            <a:off x="658368" y="36576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تحسين تجربة الوصول والاستقبال</a:t>
            </a:r>
            <a:endParaRPr lang="ar-SA" sz="1400" dirty="0"/>
          </a:p>
        </p:txBody>
      </p:sp>
      <p:sp>
        <p:nvSpPr>
          <p:cNvPr id="17" name="Shape 12"/>
          <p:cNvSpPr/>
          <p:nvPr/>
        </p:nvSpPr>
        <p:spPr>
          <a:xfrm>
            <a:off x="548640" y="4114800"/>
            <a:ext cx="5029200" cy="402336"/>
          </a:xfrm>
          <a:prstGeom prst="roundRect">
            <a:avLst>
              <a:gd name="adj" fmla="val 31818"/>
            </a:avLst>
          </a:prstGeom>
          <a:solidFill>
            <a:srgbClr val="FBF6EE"/>
          </a:solidFill>
          <a:ln w="9525">
            <a:solidFill>
              <a:srgbClr val="E3D3BA"/>
            </a:solidFill>
            <a:prstDash val="solid"/>
          </a:ln>
        </p:spPr>
      </p:sp>
      <p:sp>
        <p:nvSpPr>
          <p:cNvPr id="18" name="Shape 13"/>
          <p:cNvSpPr/>
          <p:nvPr/>
        </p:nvSpPr>
        <p:spPr>
          <a:xfrm>
            <a:off x="5157216" y="4160520"/>
            <a:ext cx="310896" cy="310896"/>
          </a:xfrm>
          <a:prstGeom prst="ellipse">
            <a:avLst/>
          </a:prstGeom>
          <a:solidFill>
            <a:srgbClr val="7D5A44"/>
          </a:solidFill>
          <a:ln/>
        </p:spPr>
      </p:sp>
      <p:pic>
        <p:nvPicPr>
          <p:cNvPr id="19" name="Image 3" descr="preencoded.png">    </p:cNvPr>
          <p:cNvPicPr>
            <a:picLocks noChangeAspect="1"/>
          </p:cNvPicPr>
          <p:nvPr/>
        </p:nvPicPr>
        <p:blipFill>
          <a:blip r:embed="rId5"/>
          <a:stretch>
            <a:fillRect/>
          </a:stretch>
        </p:blipFill>
        <p:spPr>
          <a:xfrm>
            <a:off x="5234940" y="4238244"/>
            <a:ext cx="155448" cy="155448"/>
          </a:xfrm>
          <a:prstGeom prst="rect">
            <a:avLst/>
          </a:prstGeom>
        </p:spPr>
      </p:pic>
      <p:sp>
        <p:nvSpPr>
          <p:cNvPr id="20" name="Text 14"/>
          <p:cNvSpPr txBox="1"/>
          <p:nvPr/>
        </p:nvSpPr>
        <p:spPr>
          <a:xfrm>
            <a:off x="658368" y="41148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توزيع مناطق الجلوس والاستراحة</a:t>
            </a:r>
            <a:endParaRPr lang="ar-SA" sz="1400" dirty="0"/>
          </a:p>
        </p:txBody>
      </p:sp>
      <p:sp>
        <p:nvSpPr>
          <p:cNvPr id="21" name="Shape 15"/>
          <p:cNvSpPr/>
          <p:nvPr/>
        </p:nvSpPr>
        <p:spPr>
          <a:xfrm>
            <a:off x="548640" y="4572000"/>
            <a:ext cx="5029200" cy="402336"/>
          </a:xfrm>
          <a:prstGeom prst="roundRect">
            <a:avLst>
              <a:gd name="adj" fmla="val 31818"/>
            </a:avLst>
          </a:prstGeom>
          <a:solidFill>
            <a:srgbClr val="FBF6EE"/>
          </a:solidFill>
          <a:ln w="9525">
            <a:solidFill>
              <a:srgbClr val="E3D3BA"/>
            </a:solidFill>
            <a:prstDash val="solid"/>
          </a:ln>
        </p:spPr>
      </p:sp>
      <p:sp>
        <p:nvSpPr>
          <p:cNvPr id="22" name="Shape 16"/>
          <p:cNvSpPr/>
          <p:nvPr/>
        </p:nvSpPr>
        <p:spPr>
          <a:xfrm>
            <a:off x="5157216" y="4617720"/>
            <a:ext cx="310896" cy="310896"/>
          </a:xfrm>
          <a:prstGeom prst="ellipse">
            <a:avLst/>
          </a:prstGeom>
          <a:solidFill>
            <a:srgbClr val="7D5A44"/>
          </a:solidFill>
          <a:ln/>
        </p:spPr>
      </p:sp>
      <p:pic>
        <p:nvPicPr>
          <p:cNvPr id="23" name="Image 4" descr="preencoded.png">    </p:cNvPr>
          <p:cNvPicPr>
            <a:picLocks noChangeAspect="1"/>
          </p:cNvPicPr>
          <p:nvPr/>
        </p:nvPicPr>
        <p:blipFill>
          <a:blip r:embed="rId6"/>
          <a:stretch>
            <a:fillRect/>
          </a:stretch>
        </p:blipFill>
        <p:spPr>
          <a:xfrm>
            <a:off x="5234940" y="4695444"/>
            <a:ext cx="155448" cy="155448"/>
          </a:xfrm>
          <a:prstGeom prst="rect">
            <a:avLst/>
          </a:prstGeom>
        </p:spPr>
      </p:pic>
      <p:sp>
        <p:nvSpPr>
          <p:cNvPr id="24" name="Text 17"/>
          <p:cNvSpPr txBox="1"/>
          <p:nvPr/>
        </p:nvSpPr>
        <p:spPr>
          <a:xfrm>
            <a:off x="658368" y="45720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تنظيم مناطق الطعام والأنشطة</a:t>
            </a:r>
            <a:endParaRPr lang="ar-SA" sz="1400" dirty="0"/>
          </a:p>
        </p:txBody>
      </p:sp>
      <p:sp>
        <p:nvSpPr>
          <p:cNvPr id="25" name="Shape 18"/>
          <p:cNvSpPr/>
          <p:nvPr/>
        </p:nvSpPr>
        <p:spPr>
          <a:xfrm>
            <a:off x="548640" y="5029200"/>
            <a:ext cx="5029200" cy="402336"/>
          </a:xfrm>
          <a:prstGeom prst="roundRect">
            <a:avLst>
              <a:gd name="adj" fmla="val 31818"/>
            </a:avLst>
          </a:prstGeom>
          <a:solidFill>
            <a:srgbClr val="FBF6EE"/>
          </a:solidFill>
          <a:ln w="9525">
            <a:solidFill>
              <a:srgbClr val="E3D3BA"/>
            </a:solidFill>
            <a:prstDash val="solid"/>
          </a:ln>
        </p:spPr>
      </p:sp>
      <p:sp>
        <p:nvSpPr>
          <p:cNvPr id="26" name="Shape 19"/>
          <p:cNvSpPr/>
          <p:nvPr/>
        </p:nvSpPr>
        <p:spPr>
          <a:xfrm>
            <a:off x="5157216" y="5074920"/>
            <a:ext cx="310896" cy="310896"/>
          </a:xfrm>
          <a:prstGeom prst="ellipse">
            <a:avLst/>
          </a:prstGeom>
          <a:solidFill>
            <a:srgbClr val="7D5A44"/>
          </a:solidFill>
          <a:ln/>
        </p:spPr>
      </p:sp>
      <p:pic>
        <p:nvPicPr>
          <p:cNvPr id="27" name="Image 5" descr="preencoded.png">    </p:cNvPr>
          <p:cNvPicPr>
            <a:picLocks noChangeAspect="1"/>
          </p:cNvPicPr>
          <p:nvPr/>
        </p:nvPicPr>
        <p:blipFill>
          <a:blip r:embed="rId7"/>
          <a:stretch>
            <a:fillRect/>
          </a:stretch>
        </p:blipFill>
        <p:spPr>
          <a:xfrm>
            <a:off x="5234940" y="5152644"/>
            <a:ext cx="155448" cy="155448"/>
          </a:xfrm>
          <a:prstGeom prst="rect">
            <a:avLst/>
          </a:prstGeom>
        </p:spPr>
      </p:pic>
      <p:sp>
        <p:nvSpPr>
          <p:cNvPr id="28" name="Text 20"/>
          <p:cNvSpPr txBox="1"/>
          <p:nvPr/>
        </p:nvSpPr>
        <p:spPr>
          <a:xfrm>
            <a:off x="658368" y="50292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تعزيز الإضاءة واللوحات الإرشادية</a:t>
            </a:r>
            <a:endParaRPr lang="ar-SA" sz="1400" dirty="0"/>
          </a:p>
        </p:txBody>
      </p:sp>
      <p:sp>
        <p:nvSpPr>
          <p:cNvPr id="29" name="Shape 21"/>
          <p:cNvSpPr/>
          <p:nvPr/>
        </p:nvSpPr>
        <p:spPr>
          <a:xfrm>
            <a:off x="548640" y="5486400"/>
            <a:ext cx="5029200" cy="402336"/>
          </a:xfrm>
          <a:prstGeom prst="roundRect">
            <a:avLst>
              <a:gd name="adj" fmla="val 31818"/>
            </a:avLst>
          </a:prstGeom>
          <a:solidFill>
            <a:srgbClr val="FBF6EE"/>
          </a:solidFill>
          <a:ln w="9525">
            <a:solidFill>
              <a:srgbClr val="E3D3BA"/>
            </a:solidFill>
            <a:prstDash val="solid"/>
          </a:ln>
        </p:spPr>
      </p:sp>
      <p:sp>
        <p:nvSpPr>
          <p:cNvPr id="30" name="Shape 22"/>
          <p:cNvSpPr/>
          <p:nvPr/>
        </p:nvSpPr>
        <p:spPr>
          <a:xfrm>
            <a:off x="5157216" y="5532120"/>
            <a:ext cx="310896" cy="310896"/>
          </a:xfrm>
          <a:prstGeom prst="ellipse">
            <a:avLst/>
          </a:prstGeom>
          <a:solidFill>
            <a:srgbClr val="7D5A44"/>
          </a:solidFill>
          <a:ln/>
        </p:spPr>
      </p:sp>
      <p:pic>
        <p:nvPicPr>
          <p:cNvPr id="31" name="Image 6" descr="preencoded.png">    </p:cNvPr>
          <p:cNvPicPr>
            <a:picLocks noChangeAspect="1"/>
          </p:cNvPicPr>
          <p:nvPr/>
        </p:nvPicPr>
        <p:blipFill>
          <a:blip r:embed="rId8"/>
          <a:stretch>
            <a:fillRect/>
          </a:stretch>
        </p:blipFill>
        <p:spPr>
          <a:xfrm>
            <a:off x="5234940" y="5609844"/>
            <a:ext cx="155448" cy="155448"/>
          </a:xfrm>
          <a:prstGeom prst="rect">
            <a:avLst/>
          </a:prstGeom>
        </p:spPr>
      </p:pic>
      <p:sp>
        <p:nvSpPr>
          <p:cNvPr id="32" name="Text 23"/>
          <p:cNvSpPr txBox="1"/>
          <p:nvPr/>
        </p:nvSpPr>
        <p:spPr>
          <a:xfrm>
            <a:off x="658368" y="54864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إبراز الإطلالة والمشهد الطبيعي</a:t>
            </a:r>
            <a:endParaRPr lang="ar-SA" sz="1400" dirty="0"/>
          </a:p>
        </p:txBody>
      </p:sp>
      <p:sp>
        <p:nvSpPr>
          <p:cNvPr id="33" name="Shape 24"/>
          <p:cNvSpPr/>
          <p:nvPr/>
        </p:nvSpPr>
        <p:spPr>
          <a:xfrm>
            <a:off x="548640" y="5943600"/>
            <a:ext cx="5029200" cy="402336"/>
          </a:xfrm>
          <a:prstGeom prst="roundRect">
            <a:avLst>
              <a:gd name="adj" fmla="val 31818"/>
            </a:avLst>
          </a:prstGeom>
          <a:solidFill>
            <a:srgbClr val="FBF6EE"/>
          </a:solidFill>
          <a:ln w="9525">
            <a:solidFill>
              <a:srgbClr val="E3D3BA"/>
            </a:solidFill>
            <a:prstDash val="solid"/>
          </a:ln>
        </p:spPr>
      </p:sp>
      <p:sp>
        <p:nvSpPr>
          <p:cNvPr id="34" name="Shape 25"/>
          <p:cNvSpPr/>
          <p:nvPr/>
        </p:nvSpPr>
        <p:spPr>
          <a:xfrm>
            <a:off x="5157216" y="5989320"/>
            <a:ext cx="310896" cy="310896"/>
          </a:xfrm>
          <a:prstGeom prst="ellipse">
            <a:avLst/>
          </a:prstGeom>
          <a:solidFill>
            <a:srgbClr val="7D5A44"/>
          </a:solidFill>
          <a:ln/>
        </p:spPr>
      </p:sp>
      <p:pic>
        <p:nvPicPr>
          <p:cNvPr id="35" name="Image 7" descr="preencoded.png">    </p:cNvPr>
          <p:cNvPicPr>
            <a:picLocks noChangeAspect="1"/>
          </p:cNvPicPr>
          <p:nvPr/>
        </p:nvPicPr>
        <p:blipFill>
          <a:blip r:embed="rId9"/>
          <a:stretch>
            <a:fillRect/>
          </a:stretch>
        </p:blipFill>
        <p:spPr>
          <a:xfrm>
            <a:off x="5234940" y="6067044"/>
            <a:ext cx="155448" cy="155448"/>
          </a:xfrm>
          <a:prstGeom prst="rect">
            <a:avLst/>
          </a:prstGeom>
        </p:spPr>
      </p:pic>
      <p:sp>
        <p:nvSpPr>
          <p:cNvPr id="36" name="Text 26"/>
          <p:cNvSpPr txBox="1"/>
          <p:nvPr/>
        </p:nvSpPr>
        <p:spPr>
          <a:xfrm>
            <a:off x="658368" y="5943600"/>
            <a:ext cx="4389120" cy="402336"/>
          </a:xfrm>
          <a:prstGeom prst="rect">
            <a:avLst/>
          </a:prstGeom>
          <a:noFill/>
          <a:ln/>
        </p:spPr>
        <p:txBody>
          <a:bodyPr wrap="square" lIns="0" tIns="0" rIns="0" bIns="0" rtlCol="0" anchor="ctr"/>
          <a:lstStyle/>
          <a:p>
            <a:pPr rtl="1" algn="r" indent="0" marL="0">
              <a:buNone/>
            </a:pPr>
            <a:r>
              <a:rPr lang="ar-SA" altLang="en-US" sz="1400" dirty="0">
                <a:solidFill>
                  <a:srgbClr val="3B2A1E"/>
                </a:solidFill>
                <a:latin typeface="Dubai" pitchFamily="34" charset="0"/>
                <a:ea typeface="Dubai" pitchFamily="34" charset="-122"/>
                <a:cs typeface="Dubai" pitchFamily="34" charset="-120"/>
              </a:rPr>
              <a:t>مساحات مناسبة للعائلات ومختلف الأعمار</a:t>
            </a:r>
            <a:endParaRPr lang="ar-SA" sz="1400" dirty="0"/>
          </a:p>
        </p:txBody>
      </p:sp>
      <p:sp>
        <p:nvSpPr>
          <p:cNvPr id="37" name="Text 27"/>
          <p:cNvSpPr txBox="1"/>
          <p:nvPr/>
        </p:nvSpPr>
        <p:spPr>
          <a:xfrm>
            <a:off x="6035040" y="6446520"/>
            <a:ext cx="5605272" cy="228600"/>
          </a:xfrm>
          <a:prstGeom prst="rect">
            <a:avLst/>
          </a:prstGeom>
          <a:noFill/>
          <a:ln/>
        </p:spPr>
        <p:txBody>
          <a:bodyPr wrap="square" lIns="0" tIns="0" rIns="0" bIns="0" rtlCol="0" anchor="ctr"/>
          <a:lstStyle/>
          <a:p>
            <a:pPr rtl="1" algn="r" indent="0" marL="0">
              <a:buNone/>
            </a:pPr>
            <a:r>
              <a:rPr lang="ar-SA" altLang="en-US" sz="1000" dirty="0">
                <a:solidFill>
                  <a:srgbClr val="7A5C44"/>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280160" y="5029200"/>
            <a:ext cx="3291840" cy="3291840"/>
          </a:xfrm>
          <a:prstGeom prst="ellipse">
            <a:avLst/>
          </a:prstGeom>
          <a:solidFill>
            <a:srgbClr val="C49A7A">
              <a:alpha val="12000"/>
            </a:srgbClr>
          </a:solidFill>
          <a:ln w="12700">
            <a:solidFill>
              <a:srgbClr val="C49A7A">
                <a:alpha val="0"/>
              </a:srgbClr>
            </a:solidFill>
            <a:prstDash val="solid"/>
          </a:ln>
        </p:spPr>
      </p:sp>
      <p:sp>
        <p:nvSpPr>
          <p:cNvPr id="3" name="Shape 1"/>
          <p:cNvSpPr/>
          <p:nvPr/>
        </p:nvSpPr>
        <p:spPr>
          <a:xfrm>
            <a:off x="7434072" y="548640"/>
            <a:ext cx="4206240" cy="5760720"/>
          </a:xfrm>
          <a:prstGeom prst="roundRect">
            <a:avLst>
              <a:gd name="adj" fmla="val 8696"/>
            </a:avLst>
          </a:prstGeom>
          <a:solidFill>
            <a:srgbClr val="3E2D21"/>
          </a:solidFill>
          <a:ln w="15875">
            <a:solidFill>
              <a:srgbClr val="C49A7A"/>
            </a:solidFill>
            <a:prstDash val="dash"/>
          </a:ln>
        </p:spPr>
      </p:sp>
      <p:sp>
        <p:nvSpPr>
          <p:cNvPr id="4" name="Shape 2"/>
          <p:cNvSpPr/>
          <p:nvPr/>
        </p:nvSpPr>
        <p:spPr>
          <a:xfrm>
            <a:off x="7598664" y="713232"/>
            <a:ext cx="3877056" cy="5431536"/>
          </a:xfrm>
          <a:prstGeom prst="roundRect">
            <a:avLst>
              <a:gd name="adj" fmla="val 6604"/>
            </a:avLst>
          </a:prstGeom>
          <a:noFill/>
          <a:ln w="9525">
            <a:solidFill>
              <a:srgbClr val="C49A7A">
                <a:alpha val="45000"/>
              </a:srgbClr>
            </a:solidFill>
            <a:prstDash val="solid"/>
          </a:ln>
        </p:spPr>
      </p:sp>
      <p:pic>
        <p:nvPicPr>
          <p:cNvPr id="5" name="Image 0" descr="preencoded.png">    </p:cNvPr>
          <p:cNvPicPr>
            <a:picLocks noChangeAspect="1"/>
          </p:cNvPicPr>
          <p:nvPr/>
        </p:nvPicPr>
        <p:blipFill>
          <a:blip r:embed="rId2">
            <a:alphaModFix amt="65000"/>
          </a:blip>
          <a:stretch>
            <a:fillRect/>
          </a:stretch>
        </p:blipFill>
        <p:spPr>
          <a:xfrm>
            <a:off x="8759952" y="2057400"/>
            <a:ext cx="1554480" cy="1554480"/>
          </a:xfrm>
          <a:prstGeom prst="rect">
            <a:avLst/>
          </a:prstGeom>
        </p:spPr>
      </p:pic>
      <p:sp>
        <p:nvSpPr>
          <p:cNvPr id="6" name="Text 3"/>
          <p:cNvSpPr txBox="1"/>
          <p:nvPr/>
        </p:nvSpPr>
        <p:spPr>
          <a:xfrm>
            <a:off x="7434072" y="3840480"/>
            <a:ext cx="4206240" cy="365760"/>
          </a:xfrm>
          <a:prstGeom prst="rect">
            <a:avLst/>
          </a:prstGeom>
          <a:noFill/>
          <a:ln/>
        </p:spPr>
        <p:txBody>
          <a:bodyPr wrap="square" lIns="0" tIns="0" rIns="0" bIns="0" rtlCol="0" anchor="ctr"/>
          <a:lstStyle/>
          <a:p>
            <a:pPr rtl="1" algn="ctr" indent="0" marL="0">
              <a:buNone/>
            </a:pPr>
            <a:r>
              <a:rPr lang="ar-SA" altLang="en-US" sz="1800" b="1" dirty="0">
                <a:solidFill>
                  <a:srgbClr val="CDB79A"/>
                </a:solidFill>
                <a:latin typeface="Dubai" pitchFamily="34" charset="0"/>
                <a:ea typeface="Dubai" pitchFamily="34" charset="-122"/>
                <a:cs typeface="Dubai" pitchFamily="34" charset="-120"/>
              </a:rPr>
              <a:t>مساحة الصورة</a:t>
            </a:r>
            <a:endParaRPr lang="ar-SA" sz="1800" dirty="0"/>
          </a:p>
        </p:txBody>
      </p:sp>
      <p:sp>
        <p:nvSpPr>
          <p:cNvPr id="7" name="Text 4"/>
          <p:cNvSpPr txBox="1"/>
          <p:nvPr/>
        </p:nvSpPr>
        <p:spPr>
          <a:xfrm>
            <a:off x="7434072" y="4251960"/>
            <a:ext cx="4206240" cy="274320"/>
          </a:xfrm>
          <a:prstGeom prst="rect">
            <a:avLst/>
          </a:prstGeom>
          <a:noFill/>
          <a:ln/>
        </p:spPr>
        <p:txBody>
          <a:bodyPr wrap="square" lIns="0" tIns="0" rIns="0" bIns="0" rtlCol="0" anchor="ctr"/>
          <a:lstStyle/>
          <a:p>
            <a:pPr rtl="1" algn="ctr" indent="0" marL="0">
              <a:buNone/>
            </a:pPr>
            <a:r>
              <a:rPr lang="ar-SA" altLang="en-US" sz="1200" dirty="0">
                <a:solidFill>
                  <a:srgbClr val="CDB79A"/>
                </a:solidFill>
                <a:latin typeface="Dubai" pitchFamily="34" charset="0"/>
                <a:ea typeface="Dubai" pitchFamily="34" charset="-122"/>
                <a:cs typeface="Dubai" pitchFamily="34" charset="-120"/>
              </a:rPr>
              <a:t>صورة ١٠</a:t>
            </a:r>
            <a:endParaRPr lang="ar-SA" sz="1200" dirty="0"/>
          </a:p>
        </p:txBody>
      </p:sp>
      <p:sp>
        <p:nvSpPr>
          <p:cNvPr id="8" name="Shape 5"/>
          <p:cNvSpPr/>
          <p:nvPr/>
        </p:nvSpPr>
        <p:spPr>
          <a:xfrm>
            <a:off x="2706624" y="548640"/>
            <a:ext cx="4334256" cy="365760"/>
          </a:xfrm>
          <a:prstGeom prst="roundRect">
            <a:avLst>
              <a:gd name="adj" fmla="val 50000"/>
            </a:avLst>
          </a:prstGeom>
          <a:solidFill>
            <a:srgbClr val="C49A7A">
              <a:alpha val="25000"/>
            </a:srgbClr>
          </a:solidFill>
          <a:ln w="9525">
            <a:solidFill>
              <a:srgbClr val="C49A7A"/>
            </a:solidFill>
            <a:prstDash val="solid"/>
          </a:ln>
        </p:spPr>
      </p:sp>
      <p:pic>
        <p:nvPicPr>
          <p:cNvPr id="9" name="Image 1" descr="preencoded.png">    </p:cNvPr>
          <p:cNvPicPr>
            <a:picLocks noChangeAspect="1"/>
          </p:cNvPicPr>
          <p:nvPr/>
        </p:nvPicPr>
        <p:blipFill>
          <a:blip r:embed="rId3"/>
          <a:stretch>
            <a:fillRect/>
          </a:stretch>
        </p:blipFill>
        <p:spPr>
          <a:xfrm>
            <a:off x="6693408" y="630936"/>
            <a:ext cx="201168" cy="201168"/>
          </a:xfrm>
          <a:prstGeom prst="rect">
            <a:avLst/>
          </a:prstGeom>
        </p:spPr>
      </p:pic>
      <p:sp>
        <p:nvSpPr>
          <p:cNvPr id="10" name="Text 6"/>
          <p:cNvSpPr txBox="1"/>
          <p:nvPr/>
        </p:nvSpPr>
        <p:spPr>
          <a:xfrm>
            <a:off x="2816352" y="548640"/>
            <a:ext cx="3785616" cy="365760"/>
          </a:xfrm>
          <a:prstGeom prst="rect">
            <a:avLst/>
          </a:prstGeom>
          <a:noFill/>
          <a:ln/>
        </p:spPr>
        <p:txBody>
          <a:bodyPr wrap="square" lIns="0" tIns="0" rIns="0" bIns="0" rtlCol="0" anchor="ctr"/>
          <a:lstStyle/>
          <a:p>
            <a:pPr rtl="1" algn="r" indent="0" marL="0">
              <a:buNone/>
            </a:pPr>
            <a:r>
              <a:rPr lang="ar-SA" altLang="en-US" sz="1300" b="1" dirty="0">
                <a:solidFill>
                  <a:srgbClr val="C49A7A"/>
                </a:solidFill>
                <a:latin typeface="Dubai" pitchFamily="34" charset="0"/>
                <a:ea typeface="Dubai" pitchFamily="34" charset="-122"/>
                <a:cs typeface="Dubai" pitchFamily="34" charset="-120"/>
              </a:rPr>
              <a:t>خرطم — يوم كامل من التجارب</a:t>
            </a:r>
            <a:endParaRPr lang="ar-SA" sz="1300" dirty="0"/>
          </a:p>
        </p:txBody>
      </p:sp>
      <p:sp>
        <p:nvSpPr>
          <p:cNvPr id="11" name="Text 7"/>
          <p:cNvSpPr txBox="1"/>
          <p:nvPr/>
        </p:nvSpPr>
        <p:spPr>
          <a:xfrm>
            <a:off x="548640" y="1005840"/>
            <a:ext cx="6492240" cy="1143000"/>
          </a:xfrm>
          <a:prstGeom prst="rect">
            <a:avLst/>
          </a:prstGeom>
          <a:noFill/>
          <a:ln/>
        </p:spPr>
        <p:txBody>
          <a:bodyPr wrap="square" lIns="0" tIns="0" rIns="0" bIns="0" rtlCol="0" anchor="t"/>
          <a:lstStyle/>
          <a:p>
            <a:pPr rtl="1" algn="r" indent="0" marL="0">
              <a:buNone/>
            </a:pPr>
            <a:r>
              <a:rPr lang="ar-SA" altLang="en-US" sz="3600" b="1" dirty="0">
                <a:solidFill>
                  <a:srgbClr val="F3EADB"/>
                </a:solidFill>
                <a:latin typeface="Dubai" pitchFamily="34" charset="0"/>
                <a:ea typeface="Dubai" pitchFamily="34" charset="-122"/>
                <a:cs typeface="Dubai" pitchFamily="34" charset="-120"/>
              </a:rPr>
              <a:t>وجهة تجمع العائلة</a:t>
            </a:r>
            <a:endParaRPr lang="ar-SA" sz="3600" dirty="0"/>
          </a:p>
        </p:txBody>
      </p:sp>
      <p:sp>
        <p:nvSpPr>
          <p:cNvPr id="12" name="Text 8"/>
          <p:cNvSpPr txBox="1"/>
          <p:nvPr/>
        </p:nvSpPr>
        <p:spPr>
          <a:xfrm>
            <a:off x="548640" y="2194560"/>
            <a:ext cx="6492240" cy="1280160"/>
          </a:xfrm>
          <a:prstGeom prst="rect">
            <a:avLst/>
          </a:prstGeom>
          <a:noFill/>
          <a:ln/>
        </p:spPr>
        <p:txBody>
          <a:bodyPr wrap="square" lIns="0" tIns="0" rIns="0" bIns="0" rtlCol="0" anchor="t"/>
          <a:lstStyle/>
          <a:p>
            <a:pPr algn="r" indent="0" marL="0">
              <a:lnSpc>
                <a:spcPct val="115000"/>
              </a:lnSpc>
              <a:spcAft>
                <a:spcPts val="600"/>
              </a:spcAft>
              <a:buNone/>
            </a:pPr>
            <a:r>
              <a:rPr lang="ar-SA" altLang="en-US" sz="1500" dirty="0">
                <a:solidFill>
                  <a:srgbClr val="E3D4BC"/>
                </a:solidFill>
                <a:latin typeface="Dubai" pitchFamily="34" charset="0"/>
                <a:ea typeface="Dubai" pitchFamily="34" charset="-122"/>
                <a:cs typeface="Dubai" pitchFamily="34" charset="-120"/>
              </a:rPr>
              <a:t>من أول زيارة للمطاعم وحتى آخر لحظات الغروب، تتحول خرطم إلى مساحة مليئة بالتجارب؛ طعام وضيافة، وأنشطة للأطفال، وأركان محلية، ومساحات للاسترخاء والاستمتاع بالطبيعة.</a:t>
            </a:r>
            <a:endParaRPr lang="ar-SA" sz="1500" dirty="0"/>
          </a:p>
        </p:txBody>
      </p:sp>
      <p:sp>
        <p:nvSpPr>
          <p:cNvPr id="13" name="Text 9"/>
          <p:cNvSpPr txBox="1"/>
          <p:nvPr/>
        </p:nvSpPr>
        <p:spPr>
          <a:xfrm>
            <a:off x="548640" y="3493008"/>
            <a:ext cx="6492240" cy="274320"/>
          </a:xfrm>
          <a:prstGeom prst="rect">
            <a:avLst/>
          </a:prstGeom>
          <a:noFill/>
          <a:ln/>
        </p:spPr>
        <p:txBody>
          <a:bodyPr wrap="square" lIns="0" tIns="0" rIns="0" bIns="0" rtlCol="0" anchor="ctr"/>
          <a:lstStyle/>
          <a:p>
            <a:pPr rtl="1" algn="r" indent="0" marL="0">
              <a:buNone/>
            </a:pPr>
            <a:r>
              <a:rPr lang="ar-SA" altLang="en-US" sz="1400" b="1" dirty="0">
                <a:solidFill>
                  <a:srgbClr val="C49A7A"/>
                </a:solidFill>
                <a:latin typeface="Dubai" pitchFamily="34" charset="0"/>
                <a:ea typeface="Dubai" pitchFamily="34" charset="-122"/>
                <a:cs typeface="Dubai" pitchFamily="34" charset="-120"/>
              </a:rPr>
              <a:t>مكونات التجربة</a:t>
            </a:r>
            <a:endParaRPr lang="ar-SA" sz="1400" dirty="0"/>
          </a:p>
        </p:txBody>
      </p:sp>
      <p:sp>
        <p:nvSpPr>
          <p:cNvPr id="14" name="Shape 10"/>
          <p:cNvSpPr/>
          <p:nvPr/>
        </p:nvSpPr>
        <p:spPr>
          <a:xfrm>
            <a:off x="3886200" y="3858768"/>
            <a:ext cx="3154680" cy="548640"/>
          </a:xfrm>
          <a:prstGeom prst="roundRect">
            <a:avLst>
              <a:gd name="adj" fmla="val 23333"/>
            </a:avLst>
          </a:prstGeom>
          <a:solidFill>
            <a:srgbClr val="3A2A1F"/>
          </a:solidFill>
          <a:ln w="9525">
            <a:solidFill>
              <a:srgbClr val="4D3A2C"/>
            </a:solidFill>
            <a:prstDash val="solid"/>
          </a:ln>
        </p:spPr>
      </p:sp>
      <p:sp>
        <p:nvSpPr>
          <p:cNvPr id="15" name="Shape 11"/>
          <p:cNvSpPr/>
          <p:nvPr/>
        </p:nvSpPr>
        <p:spPr>
          <a:xfrm>
            <a:off x="6547104" y="3941064"/>
            <a:ext cx="384048" cy="384048"/>
          </a:xfrm>
          <a:prstGeom prst="ellipse">
            <a:avLst/>
          </a:prstGeom>
          <a:solidFill>
            <a:srgbClr val="C49A7A"/>
          </a:solidFill>
          <a:ln/>
        </p:spPr>
      </p:sp>
      <p:pic>
        <p:nvPicPr>
          <p:cNvPr id="16" name="Image 2" descr="preencoded.png">    </p:cNvPr>
          <p:cNvPicPr>
            <a:picLocks noChangeAspect="1"/>
          </p:cNvPicPr>
          <p:nvPr/>
        </p:nvPicPr>
        <p:blipFill>
          <a:blip r:embed="rId4"/>
          <a:stretch>
            <a:fillRect/>
          </a:stretch>
        </p:blipFill>
        <p:spPr>
          <a:xfrm>
            <a:off x="6643116" y="4037076"/>
            <a:ext cx="192024" cy="192024"/>
          </a:xfrm>
          <a:prstGeom prst="rect">
            <a:avLst/>
          </a:prstGeom>
        </p:spPr>
      </p:pic>
      <p:sp>
        <p:nvSpPr>
          <p:cNvPr id="17" name="Text 12"/>
          <p:cNvSpPr txBox="1"/>
          <p:nvPr/>
        </p:nvSpPr>
        <p:spPr>
          <a:xfrm>
            <a:off x="399592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منطقة مطاعم وأطعمة ومشروبات</a:t>
            </a:r>
            <a:endParaRPr lang="ar-SA" sz="1400" dirty="0"/>
          </a:p>
        </p:txBody>
      </p:sp>
      <p:sp>
        <p:nvSpPr>
          <p:cNvPr id="18" name="Shape 13"/>
          <p:cNvSpPr/>
          <p:nvPr/>
        </p:nvSpPr>
        <p:spPr>
          <a:xfrm>
            <a:off x="548640" y="3858768"/>
            <a:ext cx="3154680" cy="548640"/>
          </a:xfrm>
          <a:prstGeom prst="roundRect">
            <a:avLst>
              <a:gd name="adj" fmla="val 23333"/>
            </a:avLst>
          </a:prstGeom>
          <a:solidFill>
            <a:srgbClr val="3A2A1F"/>
          </a:solidFill>
          <a:ln w="9525">
            <a:solidFill>
              <a:srgbClr val="4D3A2C"/>
            </a:solidFill>
            <a:prstDash val="solid"/>
          </a:ln>
        </p:spPr>
      </p:sp>
      <p:sp>
        <p:nvSpPr>
          <p:cNvPr id="19" name="Shape 14"/>
          <p:cNvSpPr/>
          <p:nvPr/>
        </p:nvSpPr>
        <p:spPr>
          <a:xfrm>
            <a:off x="3209544" y="3941064"/>
            <a:ext cx="384048" cy="384048"/>
          </a:xfrm>
          <a:prstGeom prst="ellipse">
            <a:avLst/>
          </a:prstGeom>
          <a:solidFill>
            <a:srgbClr val="C49A7A"/>
          </a:solidFill>
          <a:ln/>
        </p:spPr>
      </p:sp>
      <p:pic>
        <p:nvPicPr>
          <p:cNvPr id="20" name="Image 3" descr="preencoded.png">    </p:cNvPr>
          <p:cNvPicPr>
            <a:picLocks noChangeAspect="1"/>
          </p:cNvPicPr>
          <p:nvPr/>
        </p:nvPicPr>
        <p:blipFill>
          <a:blip r:embed="rId5"/>
          <a:stretch>
            <a:fillRect/>
          </a:stretch>
        </p:blipFill>
        <p:spPr>
          <a:xfrm>
            <a:off x="3305556" y="4037076"/>
            <a:ext cx="192024" cy="192024"/>
          </a:xfrm>
          <a:prstGeom prst="rect">
            <a:avLst/>
          </a:prstGeom>
        </p:spPr>
      </p:pic>
      <p:sp>
        <p:nvSpPr>
          <p:cNvPr id="21" name="Text 15"/>
          <p:cNvSpPr txBox="1"/>
          <p:nvPr/>
        </p:nvSpPr>
        <p:spPr>
          <a:xfrm>
            <a:off x="658368" y="3858768"/>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أكشاك للمنتجات المحلية والأسر المنتجة</a:t>
            </a:r>
            <a:endParaRPr lang="ar-SA" sz="1400" dirty="0"/>
          </a:p>
        </p:txBody>
      </p:sp>
      <p:sp>
        <p:nvSpPr>
          <p:cNvPr id="22" name="Shape 16"/>
          <p:cNvSpPr/>
          <p:nvPr/>
        </p:nvSpPr>
        <p:spPr>
          <a:xfrm>
            <a:off x="3886200" y="4480560"/>
            <a:ext cx="3154680" cy="548640"/>
          </a:xfrm>
          <a:prstGeom prst="roundRect">
            <a:avLst>
              <a:gd name="adj" fmla="val 23333"/>
            </a:avLst>
          </a:prstGeom>
          <a:solidFill>
            <a:srgbClr val="3A2A1F"/>
          </a:solidFill>
          <a:ln w="9525">
            <a:solidFill>
              <a:srgbClr val="4D3A2C"/>
            </a:solidFill>
            <a:prstDash val="solid"/>
          </a:ln>
        </p:spPr>
      </p:sp>
      <p:sp>
        <p:nvSpPr>
          <p:cNvPr id="23" name="Shape 17"/>
          <p:cNvSpPr/>
          <p:nvPr/>
        </p:nvSpPr>
        <p:spPr>
          <a:xfrm>
            <a:off x="6547104" y="4562856"/>
            <a:ext cx="384048" cy="384048"/>
          </a:xfrm>
          <a:prstGeom prst="ellipse">
            <a:avLst/>
          </a:prstGeom>
          <a:solidFill>
            <a:srgbClr val="C49A7A"/>
          </a:solidFill>
          <a:ln/>
        </p:spPr>
      </p:sp>
      <p:pic>
        <p:nvPicPr>
          <p:cNvPr id="24" name="Image 4" descr="preencoded.png">    </p:cNvPr>
          <p:cNvPicPr>
            <a:picLocks noChangeAspect="1"/>
          </p:cNvPicPr>
          <p:nvPr/>
        </p:nvPicPr>
        <p:blipFill>
          <a:blip r:embed="rId6"/>
          <a:stretch>
            <a:fillRect/>
          </a:stretch>
        </p:blipFill>
        <p:spPr>
          <a:xfrm>
            <a:off x="6643116" y="4658868"/>
            <a:ext cx="192024" cy="192024"/>
          </a:xfrm>
          <a:prstGeom prst="rect">
            <a:avLst/>
          </a:prstGeom>
        </p:spPr>
      </p:pic>
      <p:sp>
        <p:nvSpPr>
          <p:cNvPr id="25" name="Text 18"/>
          <p:cNvSpPr txBox="1"/>
          <p:nvPr/>
        </p:nvSpPr>
        <p:spPr>
          <a:xfrm>
            <a:off x="399592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منطقة مخصصة للأطفال والألعاب</a:t>
            </a:r>
            <a:endParaRPr lang="ar-SA" sz="1400" dirty="0"/>
          </a:p>
        </p:txBody>
      </p:sp>
      <p:sp>
        <p:nvSpPr>
          <p:cNvPr id="26" name="Shape 19"/>
          <p:cNvSpPr/>
          <p:nvPr/>
        </p:nvSpPr>
        <p:spPr>
          <a:xfrm>
            <a:off x="548640" y="4480560"/>
            <a:ext cx="3154680" cy="548640"/>
          </a:xfrm>
          <a:prstGeom prst="roundRect">
            <a:avLst>
              <a:gd name="adj" fmla="val 23333"/>
            </a:avLst>
          </a:prstGeom>
          <a:solidFill>
            <a:srgbClr val="3A2A1F"/>
          </a:solidFill>
          <a:ln w="9525">
            <a:solidFill>
              <a:srgbClr val="4D3A2C"/>
            </a:solidFill>
            <a:prstDash val="solid"/>
          </a:ln>
        </p:spPr>
      </p:sp>
      <p:sp>
        <p:nvSpPr>
          <p:cNvPr id="27" name="Shape 20"/>
          <p:cNvSpPr/>
          <p:nvPr/>
        </p:nvSpPr>
        <p:spPr>
          <a:xfrm>
            <a:off x="3209544" y="4562856"/>
            <a:ext cx="384048" cy="384048"/>
          </a:xfrm>
          <a:prstGeom prst="ellipse">
            <a:avLst/>
          </a:prstGeom>
          <a:solidFill>
            <a:srgbClr val="C49A7A"/>
          </a:solidFill>
          <a:ln/>
        </p:spPr>
      </p:sp>
      <p:pic>
        <p:nvPicPr>
          <p:cNvPr id="28" name="Image 5" descr="preencoded.png">    </p:cNvPr>
          <p:cNvPicPr>
            <a:picLocks noChangeAspect="1"/>
          </p:cNvPicPr>
          <p:nvPr/>
        </p:nvPicPr>
        <p:blipFill>
          <a:blip r:embed="rId7"/>
          <a:stretch>
            <a:fillRect/>
          </a:stretch>
        </p:blipFill>
        <p:spPr>
          <a:xfrm>
            <a:off x="3305556" y="4658868"/>
            <a:ext cx="192024" cy="192024"/>
          </a:xfrm>
          <a:prstGeom prst="rect">
            <a:avLst/>
          </a:prstGeom>
        </p:spPr>
      </p:pic>
      <p:sp>
        <p:nvSpPr>
          <p:cNvPr id="29" name="Text 21"/>
          <p:cNvSpPr txBox="1"/>
          <p:nvPr/>
        </p:nvSpPr>
        <p:spPr>
          <a:xfrm>
            <a:off x="658368" y="4480560"/>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جلسات عائلية ومناطق استراحة</a:t>
            </a:r>
            <a:endParaRPr lang="ar-SA" sz="1400" dirty="0"/>
          </a:p>
        </p:txBody>
      </p:sp>
      <p:sp>
        <p:nvSpPr>
          <p:cNvPr id="30" name="Shape 22"/>
          <p:cNvSpPr/>
          <p:nvPr/>
        </p:nvSpPr>
        <p:spPr>
          <a:xfrm>
            <a:off x="3886200" y="5102352"/>
            <a:ext cx="3154680" cy="548640"/>
          </a:xfrm>
          <a:prstGeom prst="roundRect">
            <a:avLst>
              <a:gd name="adj" fmla="val 23333"/>
            </a:avLst>
          </a:prstGeom>
          <a:solidFill>
            <a:srgbClr val="3A2A1F"/>
          </a:solidFill>
          <a:ln w="9525">
            <a:solidFill>
              <a:srgbClr val="4D3A2C"/>
            </a:solidFill>
            <a:prstDash val="solid"/>
          </a:ln>
        </p:spPr>
      </p:sp>
      <p:sp>
        <p:nvSpPr>
          <p:cNvPr id="31" name="Shape 23"/>
          <p:cNvSpPr/>
          <p:nvPr/>
        </p:nvSpPr>
        <p:spPr>
          <a:xfrm>
            <a:off x="6547104" y="5184648"/>
            <a:ext cx="384048" cy="384048"/>
          </a:xfrm>
          <a:prstGeom prst="ellipse">
            <a:avLst/>
          </a:prstGeom>
          <a:solidFill>
            <a:srgbClr val="C49A7A"/>
          </a:solidFill>
          <a:ln/>
        </p:spPr>
      </p:sp>
      <p:pic>
        <p:nvPicPr>
          <p:cNvPr id="32" name="Image 6" descr="preencoded.png">    </p:cNvPr>
          <p:cNvPicPr>
            <a:picLocks noChangeAspect="1"/>
          </p:cNvPicPr>
          <p:nvPr/>
        </p:nvPicPr>
        <p:blipFill>
          <a:blip r:embed="rId8"/>
          <a:stretch>
            <a:fillRect/>
          </a:stretch>
        </p:blipFill>
        <p:spPr>
          <a:xfrm>
            <a:off x="6643116" y="5280660"/>
            <a:ext cx="192024" cy="192024"/>
          </a:xfrm>
          <a:prstGeom prst="rect">
            <a:avLst/>
          </a:prstGeom>
        </p:spPr>
      </p:pic>
      <p:sp>
        <p:nvSpPr>
          <p:cNvPr id="33" name="Text 24"/>
          <p:cNvSpPr txBox="1"/>
          <p:nvPr/>
        </p:nvSpPr>
        <p:spPr>
          <a:xfrm>
            <a:off x="399592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مناطق تصوير بإطلالات مميزة</a:t>
            </a:r>
            <a:endParaRPr lang="ar-SA" sz="1400" dirty="0"/>
          </a:p>
        </p:txBody>
      </p:sp>
      <p:sp>
        <p:nvSpPr>
          <p:cNvPr id="34" name="Shape 25"/>
          <p:cNvSpPr/>
          <p:nvPr/>
        </p:nvSpPr>
        <p:spPr>
          <a:xfrm>
            <a:off x="548640" y="5102352"/>
            <a:ext cx="3154680" cy="548640"/>
          </a:xfrm>
          <a:prstGeom prst="roundRect">
            <a:avLst>
              <a:gd name="adj" fmla="val 23333"/>
            </a:avLst>
          </a:prstGeom>
          <a:solidFill>
            <a:srgbClr val="3A2A1F"/>
          </a:solidFill>
          <a:ln w="9525">
            <a:solidFill>
              <a:srgbClr val="4D3A2C"/>
            </a:solidFill>
            <a:prstDash val="solid"/>
          </a:ln>
        </p:spPr>
      </p:sp>
      <p:sp>
        <p:nvSpPr>
          <p:cNvPr id="35" name="Shape 26"/>
          <p:cNvSpPr/>
          <p:nvPr/>
        </p:nvSpPr>
        <p:spPr>
          <a:xfrm>
            <a:off x="3209544" y="5184648"/>
            <a:ext cx="384048" cy="384048"/>
          </a:xfrm>
          <a:prstGeom prst="ellipse">
            <a:avLst/>
          </a:prstGeom>
          <a:solidFill>
            <a:srgbClr val="C49A7A"/>
          </a:solidFill>
          <a:ln/>
        </p:spPr>
      </p:sp>
      <p:pic>
        <p:nvPicPr>
          <p:cNvPr id="36" name="Image 7" descr="preencoded.png">    </p:cNvPr>
          <p:cNvPicPr>
            <a:picLocks noChangeAspect="1"/>
          </p:cNvPicPr>
          <p:nvPr/>
        </p:nvPicPr>
        <p:blipFill>
          <a:blip r:embed="rId9"/>
          <a:stretch>
            <a:fillRect/>
          </a:stretch>
        </p:blipFill>
        <p:spPr>
          <a:xfrm>
            <a:off x="3305556" y="5280660"/>
            <a:ext cx="192024" cy="192024"/>
          </a:xfrm>
          <a:prstGeom prst="rect">
            <a:avLst/>
          </a:prstGeom>
        </p:spPr>
      </p:pic>
      <p:sp>
        <p:nvSpPr>
          <p:cNvPr id="37" name="Text 27"/>
          <p:cNvSpPr txBox="1"/>
          <p:nvPr/>
        </p:nvSpPr>
        <p:spPr>
          <a:xfrm>
            <a:off x="658368" y="5102352"/>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فعاليات موسمية وتجارب تفاعلية</a:t>
            </a:r>
            <a:endParaRPr lang="ar-SA" sz="1400" dirty="0"/>
          </a:p>
        </p:txBody>
      </p:sp>
      <p:sp>
        <p:nvSpPr>
          <p:cNvPr id="38" name="Shape 28"/>
          <p:cNvSpPr/>
          <p:nvPr/>
        </p:nvSpPr>
        <p:spPr>
          <a:xfrm>
            <a:off x="3886200" y="5724144"/>
            <a:ext cx="3154680" cy="548640"/>
          </a:xfrm>
          <a:prstGeom prst="roundRect">
            <a:avLst>
              <a:gd name="adj" fmla="val 23333"/>
            </a:avLst>
          </a:prstGeom>
          <a:solidFill>
            <a:srgbClr val="3A2A1F"/>
          </a:solidFill>
          <a:ln w="9525">
            <a:solidFill>
              <a:srgbClr val="4D3A2C"/>
            </a:solidFill>
            <a:prstDash val="solid"/>
          </a:ln>
        </p:spPr>
      </p:sp>
      <p:sp>
        <p:nvSpPr>
          <p:cNvPr id="39" name="Shape 29"/>
          <p:cNvSpPr/>
          <p:nvPr/>
        </p:nvSpPr>
        <p:spPr>
          <a:xfrm>
            <a:off x="6547104" y="5806440"/>
            <a:ext cx="384048" cy="384048"/>
          </a:xfrm>
          <a:prstGeom prst="ellipse">
            <a:avLst/>
          </a:prstGeom>
          <a:solidFill>
            <a:srgbClr val="C49A7A"/>
          </a:solidFill>
          <a:ln/>
        </p:spPr>
      </p:sp>
      <p:pic>
        <p:nvPicPr>
          <p:cNvPr id="40" name="Image 8" descr="preencoded.png">    </p:cNvPr>
          <p:cNvPicPr>
            <a:picLocks noChangeAspect="1"/>
          </p:cNvPicPr>
          <p:nvPr/>
        </p:nvPicPr>
        <p:blipFill>
          <a:blip r:embed="rId10"/>
          <a:stretch>
            <a:fillRect/>
          </a:stretch>
        </p:blipFill>
        <p:spPr>
          <a:xfrm>
            <a:off x="6643116" y="5902452"/>
            <a:ext cx="192024" cy="192024"/>
          </a:xfrm>
          <a:prstGeom prst="rect">
            <a:avLst/>
          </a:prstGeom>
        </p:spPr>
      </p:pic>
      <p:sp>
        <p:nvSpPr>
          <p:cNvPr id="41" name="Text 30"/>
          <p:cNvSpPr txBox="1"/>
          <p:nvPr/>
        </p:nvSpPr>
        <p:spPr>
          <a:xfrm>
            <a:off x="3995928" y="5724144"/>
            <a:ext cx="2441448" cy="548640"/>
          </a:xfrm>
          <a:prstGeom prst="rect">
            <a:avLst/>
          </a:prstGeom>
          <a:noFill/>
          <a:ln/>
        </p:spPr>
        <p:txBody>
          <a:bodyPr wrap="square" lIns="0" tIns="0" rIns="0" bIns="0" rtlCol="0" anchor="ctr"/>
          <a:lstStyle/>
          <a:p>
            <a:pPr rtl="1" algn="r" indent="0" marL="0">
              <a:buNone/>
            </a:pPr>
            <a:r>
              <a:rPr lang="ar-SA" altLang="en-US" sz="1400" dirty="0">
                <a:solidFill>
                  <a:srgbClr val="F3EADB"/>
                </a:solidFill>
                <a:latin typeface="Dubai" pitchFamily="34" charset="0"/>
                <a:ea typeface="Dubai" pitchFamily="34" charset="-122"/>
                <a:cs typeface="Dubai" pitchFamily="34" charset="-120"/>
              </a:rPr>
              <a:t>مساحات للمشي والاستمتاع بالطبيعة</a:t>
            </a:r>
            <a:endParaRPr lang="ar-SA" sz="1400" dirty="0"/>
          </a:p>
        </p:txBody>
      </p:sp>
      <p:sp>
        <p:nvSpPr>
          <p:cNvPr id="42" name="Text 31"/>
          <p:cNvSpPr txBox="1"/>
          <p:nvPr/>
        </p:nvSpPr>
        <p:spPr>
          <a:xfrm>
            <a:off x="548640" y="6446520"/>
            <a:ext cx="6492240" cy="228600"/>
          </a:xfrm>
          <a:prstGeom prst="rect">
            <a:avLst/>
          </a:prstGeom>
          <a:noFill/>
          <a:ln/>
        </p:spPr>
        <p:txBody>
          <a:bodyPr wrap="square" lIns="0" tIns="0" rIns="0" bIns="0" rtlCol="0" anchor="ctr"/>
          <a:lstStyle/>
          <a:p>
            <a:pPr rtl="1" algn="r" indent="0" marL="0">
              <a:buNone/>
            </a:pPr>
            <a:r>
              <a:rPr lang="ar-SA" altLang="en-US" sz="1000" dirty="0">
                <a:solidFill>
                  <a:srgbClr val="CDB79A"/>
                </a:solidFill>
                <a:latin typeface="Dubai" pitchFamily="34" charset="0"/>
                <a:ea typeface="Dubai" pitchFamily="34" charset="-122"/>
                <a:cs typeface="Dubai" pitchFamily="34" charset="-120"/>
              </a:rPr>
              <a:t>تصوّر تطويري مقترح</a:t>
            </a:r>
            <a:endParaRPr lang="ar-SA" sz="1000" dirty="0"/>
          </a:p>
        </p:txBody>
      </p:sp>
    </p:spTree>
  </p:cSld>
  <p:clrMapOvr>
    <a:masterClrMapping/>
  </p:clrMapOvr>
</p:sld>
</file>

<file path=ppt/theme/theme1.xml><?xml version="1.0" encoding="utf-8"?>
<a:theme xmlns:a="http://schemas.openxmlformats.org/drawingml/2006/main" name="Rewan Earth">
  <a:themeElements>
    <a:clrScheme name="Rewan Earth">
      <a:dk1>
        <a:srgbClr val="2B1D14"/>
      </a:dk1>
      <a:lt1>
        <a:srgbClr val="F3EADB"/>
      </a:lt1>
      <a:dk2>
        <a:srgbClr val="4A3628"/>
      </a:dk2>
      <a:lt2>
        <a:srgbClr val="E6D6BC"/>
      </a:lt2>
      <a:accent1>
        <a:srgbClr val="D9A66B"/>
      </a:accent1>
      <a:accent2>
        <a:srgbClr val="8C5A35"/>
      </a:accent2>
      <a:accent3>
        <a:srgbClr val="D4AF55"/>
      </a:accent3>
      <a:accent4>
        <a:srgbClr val="A05E3B"/>
      </a:accent4>
      <a:accent5>
        <a:srgbClr val="7D5A44"/>
      </a:accent5>
      <a:accent6>
        <a:srgbClr val="E8D5B5"/>
      </a:accent6>
      <a:hlink>
        <a:srgbClr val="8C5A35"/>
      </a:hlink>
      <a:folHlink>
        <a:srgbClr val="7D5A44"/>
      </a:folHlink>
    </a:clrScheme>
    <a:fontScheme name="Rewan Earth">
      <a:majorFont>
        <a:latin typeface="Dub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ub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تجارب سياحية</dc:title>
  <dc:subject>PptxGenJS Presentation</dc:subject>
  <dc:creator>PptxGenJS</dc:creator>
  <cp:lastModifiedBy>PptxGenJS</cp:lastModifiedBy>
  <cp:revision>1</cp:revision>
  <dcterms:created xsi:type="dcterms:W3CDTF">2026-10-27T16:33:40Z</dcterms:created>
  <dcterms:modified xsi:type="dcterms:W3CDTF">2026-10-27T16:33:40Z</dcterms:modified>
</cp:coreProperties>
</file>